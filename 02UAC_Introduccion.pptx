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6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66" r:id="rId42"/>
    <p:sldId id="329" r:id="rId43"/>
    <p:sldId id="330" r:id="rId44"/>
    <p:sldId id="331" r:id="rId45"/>
    <p:sldId id="332" r:id="rId46"/>
    <p:sldId id="333" r:id="rId47"/>
    <p:sldId id="334" r:id="rId48"/>
    <p:sldId id="335" r:id="rId49"/>
    <p:sldId id="336" r:id="rId50"/>
    <p:sldId id="337" r:id="rId51"/>
    <p:sldId id="338" r:id="rId52"/>
    <p:sldId id="339" r:id="rId53"/>
    <p:sldId id="340" r:id="rId54"/>
    <p:sldId id="367" r:id="rId55"/>
    <p:sldId id="341" r:id="rId56"/>
    <p:sldId id="342" r:id="rId57"/>
    <p:sldId id="343" r:id="rId58"/>
    <p:sldId id="344" r:id="rId59"/>
    <p:sldId id="345" r:id="rId60"/>
    <p:sldId id="346" r:id="rId61"/>
    <p:sldId id="347" r:id="rId62"/>
    <p:sldId id="348" r:id="rId63"/>
    <p:sldId id="349" r:id="rId64"/>
    <p:sldId id="350" r:id="rId65"/>
    <p:sldId id="351" r:id="rId66"/>
    <p:sldId id="352" r:id="rId67"/>
    <p:sldId id="353" r:id="rId68"/>
    <p:sldId id="354" r:id="rId69"/>
    <p:sldId id="355" r:id="rId70"/>
    <p:sldId id="356" r:id="rId71"/>
    <p:sldId id="357" r:id="rId72"/>
    <p:sldId id="358" r:id="rId73"/>
    <p:sldId id="359" r:id="rId74"/>
    <p:sldId id="360" r:id="rId75"/>
    <p:sldId id="361" r:id="rId76"/>
    <p:sldId id="362" r:id="rId77"/>
    <p:sldId id="363" r:id="rId78"/>
    <p:sldId id="368" r:id="rId79"/>
    <p:sldId id="364" r:id="rId8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67B6-F057-40D7-A60A-B020351088CA}" type="datetimeFigureOut">
              <a:rPr lang="es-CO" smtClean="0"/>
              <a:t>13/08/2015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C0B13-3CC9-4ECA-A020-580316DE45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098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CE9A83-2A86-453C-BAD9-A9C9923E68C2}" type="slidenum">
              <a:rPr lang="de-DE" altLang="es-CO"/>
              <a:pPr/>
              <a:t>4</a:t>
            </a:fld>
            <a:endParaRPr lang="de-DE" altLang="es-CO"/>
          </a:p>
        </p:txBody>
      </p:sp>
      <p:sp>
        <p:nvSpPr>
          <p:cNvPr id="4976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842EB8-54BD-4104-8B1D-85FDB995BE98}" type="slidenum">
              <a:rPr lang="de-DE" altLang="es-CO"/>
              <a:pPr/>
              <a:t>5</a:t>
            </a:fld>
            <a:endParaRPr lang="de-DE" altLang="es-CO"/>
          </a:p>
        </p:txBody>
      </p:sp>
      <p:sp>
        <p:nvSpPr>
          <p:cNvPr id="4997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422EF2-78B8-4461-8695-28850A671F6F}" type="slidenum">
              <a:rPr lang="de-DE" altLang="es-CO"/>
              <a:pPr/>
              <a:t>6</a:t>
            </a:fld>
            <a:endParaRPr lang="de-DE" altLang="es-CO"/>
          </a:p>
        </p:txBody>
      </p:sp>
      <p:sp>
        <p:nvSpPr>
          <p:cNvPr id="4341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8FB891-705D-4BE1-BAB8-A481595CCC12}" type="slidenum">
              <a:rPr lang="de-DE" altLang="es-CO"/>
              <a:pPr/>
              <a:t>7</a:t>
            </a:fld>
            <a:endParaRPr lang="de-DE" altLang="es-CO"/>
          </a:p>
        </p:txBody>
      </p:sp>
      <p:sp>
        <p:nvSpPr>
          <p:cNvPr id="5058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6EDC6C-9C87-4798-8A37-C482B5723926}" type="slidenum">
              <a:rPr lang="de-DE" altLang="es-CO"/>
              <a:pPr/>
              <a:t>8</a:t>
            </a:fld>
            <a:endParaRPr lang="de-DE" altLang="es-CO"/>
          </a:p>
        </p:txBody>
      </p:sp>
      <p:sp>
        <p:nvSpPr>
          <p:cNvPr id="5079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7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3AB446-E392-4F5B-8A3B-DDAD8D0A323D}" type="slidenum">
              <a:rPr lang="de-DE" altLang="es-CO"/>
              <a:pPr/>
              <a:t>9</a:t>
            </a:fld>
            <a:endParaRPr lang="de-DE" altLang="es-CO"/>
          </a:p>
        </p:txBody>
      </p:sp>
      <p:sp>
        <p:nvSpPr>
          <p:cNvPr id="4352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B8B55C-9304-442B-94E3-C883FCF76719}" type="slidenum">
              <a:rPr lang="de-DE" altLang="es-CO"/>
              <a:pPr/>
              <a:t>10</a:t>
            </a:fld>
            <a:endParaRPr lang="de-DE" altLang="es-CO"/>
          </a:p>
        </p:txBody>
      </p:sp>
      <p:sp>
        <p:nvSpPr>
          <p:cNvPr id="4362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B549FB-11E8-4B49-BACA-5CD4CAB58345}" type="slidenum">
              <a:rPr lang="de-DE" altLang="es-CO"/>
              <a:pPr/>
              <a:t>11</a:t>
            </a:fld>
            <a:endParaRPr lang="de-DE" altLang="es-CO"/>
          </a:p>
        </p:txBody>
      </p:sp>
      <p:sp>
        <p:nvSpPr>
          <p:cNvPr id="4372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2664B5-1CE1-498F-BF70-72BFB4CD8381}" type="slidenum">
              <a:rPr lang="de-DE" altLang="es-CO"/>
              <a:pPr/>
              <a:t>12</a:t>
            </a:fld>
            <a:endParaRPr lang="de-DE" altLang="es-CO"/>
          </a:p>
        </p:txBody>
      </p:sp>
      <p:sp>
        <p:nvSpPr>
          <p:cNvPr id="5017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B549FB-11E8-4B49-BACA-5CD4CAB58345}" type="slidenum">
              <a:rPr lang="de-DE" altLang="es-CO"/>
              <a:pPr/>
              <a:t>13</a:t>
            </a:fld>
            <a:endParaRPr lang="de-DE" altLang="es-CO"/>
          </a:p>
        </p:txBody>
      </p:sp>
      <p:sp>
        <p:nvSpPr>
          <p:cNvPr id="4372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9793F4-7DA9-4A76-9F6C-9EEEE88E6BA1}" type="slidenum">
              <a:rPr lang="de-DE" altLang="es-CO"/>
              <a:pPr/>
              <a:t>14</a:t>
            </a:fld>
            <a:endParaRPr lang="de-DE" altLang="es-CO"/>
          </a:p>
        </p:txBody>
      </p:sp>
      <p:sp>
        <p:nvSpPr>
          <p:cNvPr id="5120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EF0E67-A951-4F8A-A422-C1D55D4C58A9}" type="slidenum">
              <a:rPr lang="de-DE" altLang="es-CO"/>
              <a:pPr/>
              <a:t>15</a:t>
            </a:fld>
            <a:endParaRPr lang="de-DE" altLang="es-CO"/>
          </a:p>
        </p:txBody>
      </p:sp>
      <p:sp>
        <p:nvSpPr>
          <p:cNvPr id="4382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0444B5-34EA-480B-98CF-BE81F37780FD}" type="slidenum">
              <a:rPr lang="de-DE" altLang="es-CO"/>
              <a:pPr/>
              <a:t>16</a:t>
            </a:fld>
            <a:endParaRPr lang="de-DE" altLang="es-CO"/>
          </a:p>
        </p:txBody>
      </p:sp>
      <p:sp>
        <p:nvSpPr>
          <p:cNvPr id="4392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2C7062-479B-4A10-BFC8-15A6B0ABD227}" type="slidenum">
              <a:rPr lang="de-DE" altLang="es-CO"/>
              <a:pPr/>
              <a:t>17</a:t>
            </a:fld>
            <a:endParaRPr lang="de-DE" altLang="es-CO"/>
          </a:p>
        </p:txBody>
      </p:sp>
      <p:sp>
        <p:nvSpPr>
          <p:cNvPr id="5038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EC92B2-1023-4006-9436-FD5C819E326C}" type="slidenum">
              <a:rPr lang="de-DE" altLang="es-CO"/>
              <a:pPr/>
              <a:t>18</a:t>
            </a:fld>
            <a:endParaRPr lang="de-DE" altLang="es-CO"/>
          </a:p>
        </p:txBody>
      </p:sp>
      <p:sp>
        <p:nvSpPr>
          <p:cNvPr id="4403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146C3B-A7F2-4E4F-95FC-F7A28FBEBC1F}" type="slidenum">
              <a:rPr lang="de-DE" altLang="es-CO"/>
              <a:pPr/>
              <a:t>19</a:t>
            </a:fld>
            <a:endParaRPr lang="de-DE" altLang="es-CO"/>
          </a:p>
        </p:txBody>
      </p:sp>
      <p:sp>
        <p:nvSpPr>
          <p:cNvPr id="4413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EE03E3-1936-474F-9F97-D217EA3E2863}" type="slidenum">
              <a:rPr lang="de-DE" altLang="es-CO"/>
              <a:pPr/>
              <a:t>20</a:t>
            </a:fld>
            <a:endParaRPr lang="de-DE" altLang="es-CO"/>
          </a:p>
        </p:txBody>
      </p:sp>
      <p:sp>
        <p:nvSpPr>
          <p:cNvPr id="4423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2CF530-EF39-4286-857B-A408C3D3592B}" type="slidenum">
              <a:rPr lang="de-DE" altLang="es-CO"/>
              <a:pPr/>
              <a:t>21</a:t>
            </a:fld>
            <a:endParaRPr lang="de-DE" altLang="es-CO"/>
          </a:p>
        </p:txBody>
      </p:sp>
      <p:sp>
        <p:nvSpPr>
          <p:cNvPr id="4433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9AC780-D50D-493E-B97F-FAC8FCA275CC}" type="slidenum">
              <a:rPr lang="de-DE" altLang="es-CO"/>
              <a:pPr/>
              <a:t>22</a:t>
            </a:fld>
            <a:endParaRPr lang="de-DE" altLang="es-CO"/>
          </a:p>
        </p:txBody>
      </p:sp>
      <p:sp>
        <p:nvSpPr>
          <p:cNvPr id="4444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9586F-2A09-466D-9708-1B3EE691CF2C}" type="slidenum">
              <a:rPr lang="de-DE" altLang="es-CO"/>
              <a:pPr/>
              <a:t>23</a:t>
            </a:fld>
            <a:endParaRPr lang="de-DE" altLang="es-CO"/>
          </a:p>
        </p:txBody>
      </p:sp>
      <p:sp>
        <p:nvSpPr>
          <p:cNvPr id="4454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773ACA-8011-4D61-8152-3A9628C39393}" type="slidenum">
              <a:rPr lang="de-DE" altLang="es-CO"/>
              <a:pPr/>
              <a:t>24</a:t>
            </a:fld>
            <a:endParaRPr lang="de-DE" altLang="es-CO"/>
          </a:p>
        </p:txBody>
      </p:sp>
      <p:sp>
        <p:nvSpPr>
          <p:cNvPr id="4464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CC7442-E050-4DDF-B04A-86E403F5035C}" type="slidenum">
              <a:rPr lang="de-DE" altLang="es-CO"/>
              <a:pPr/>
              <a:t>25</a:t>
            </a:fld>
            <a:endParaRPr lang="de-DE" altLang="es-CO"/>
          </a:p>
        </p:txBody>
      </p:sp>
      <p:sp>
        <p:nvSpPr>
          <p:cNvPr id="4474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A68B27-3948-497F-99F9-9116097F78A6}" type="slidenum">
              <a:rPr lang="de-DE" altLang="es-CO"/>
              <a:pPr/>
              <a:t>26</a:t>
            </a:fld>
            <a:endParaRPr lang="de-DE" altLang="es-CO"/>
          </a:p>
        </p:txBody>
      </p:sp>
      <p:sp>
        <p:nvSpPr>
          <p:cNvPr id="4485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9699A4-254B-4747-8966-19B805731A56}" type="slidenum">
              <a:rPr lang="de-DE" altLang="es-CO"/>
              <a:pPr/>
              <a:t>27</a:t>
            </a:fld>
            <a:endParaRPr lang="de-DE" altLang="es-CO"/>
          </a:p>
        </p:txBody>
      </p:sp>
      <p:sp>
        <p:nvSpPr>
          <p:cNvPr id="4495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215D08-B4DA-4BC2-8E90-AB5D3D8080BD}" type="slidenum">
              <a:rPr lang="de-DE" altLang="es-CO"/>
              <a:pPr/>
              <a:t>28</a:t>
            </a:fld>
            <a:endParaRPr lang="de-DE" altLang="es-CO"/>
          </a:p>
        </p:txBody>
      </p:sp>
      <p:sp>
        <p:nvSpPr>
          <p:cNvPr id="4505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AB085B-4C70-418A-9C1A-2D7CF0BD3C02}" type="slidenum">
              <a:rPr lang="de-DE" altLang="es-CO"/>
              <a:pPr/>
              <a:t>29</a:t>
            </a:fld>
            <a:endParaRPr lang="de-DE" altLang="es-CO"/>
          </a:p>
        </p:txBody>
      </p:sp>
      <p:sp>
        <p:nvSpPr>
          <p:cNvPr id="4515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80AD74-2FAC-4F02-A4CE-97B9004BF71D}" type="slidenum">
              <a:rPr lang="de-DE" altLang="es-CO"/>
              <a:pPr/>
              <a:t>30</a:t>
            </a:fld>
            <a:endParaRPr lang="de-DE" altLang="es-CO"/>
          </a:p>
        </p:txBody>
      </p:sp>
      <p:sp>
        <p:nvSpPr>
          <p:cNvPr id="4526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FF40AE-90D6-4078-AA42-C0DDF90CE9EF}" type="slidenum">
              <a:rPr lang="de-DE" altLang="es-CO"/>
              <a:pPr/>
              <a:t>31</a:t>
            </a:fld>
            <a:endParaRPr lang="de-DE" altLang="es-CO"/>
          </a:p>
        </p:txBody>
      </p:sp>
      <p:sp>
        <p:nvSpPr>
          <p:cNvPr id="4536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A0A1F1-0DE1-4920-8738-F3252A378C32}" type="slidenum">
              <a:rPr lang="de-DE" altLang="es-CO"/>
              <a:pPr/>
              <a:t>32</a:t>
            </a:fld>
            <a:endParaRPr lang="de-DE" altLang="es-CO"/>
          </a:p>
        </p:txBody>
      </p:sp>
      <p:sp>
        <p:nvSpPr>
          <p:cNvPr id="4546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72BB4D-46C3-43ED-A5C5-FF4A9AF03C6A}" type="slidenum">
              <a:rPr lang="de-DE" altLang="es-CO"/>
              <a:pPr/>
              <a:t>33</a:t>
            </a:fld>
            <a:endParaRPr lang="de-DE" altLang="es-CO"/>
          </a:p>
        </p:txBody>
      </p:sp>
      <p:sp>
        <p:nvSpPr>
          <p:cNvPr id="4556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92DF83-D8B8-4BA7-BAD5-004619BC8B57}" type="slidenum">
              <a:rPr lang="de-DE" altLang="es-CO"/>
              <a:pPr/>
              <a:t>34</a:t>
            </a:fld>
            <a:endParaRPr lang="de-DE" altLang="es-CO"/>
          </a:p>
        </p:txBody>
      </p:sp>
      <p:sp>
        <p:nvSpPr>
          <p:cNvPr id="4567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6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8D2941-1B61-4B7E-8F61-AB701CE2B743}" type="slidenum">
              <a:rPr lang="de-DE" altLang="es-CO"/>
              <a:pPr/>
              <a:t>35</a:t>
            </a:fld>
            <a:endParaRPr lang="de-DE" altLang="es-CO"/>
          </a:p>
        </p:txBody>
      </p:sp>
      <p:sp>
        <p:nvSpPr>
          <p:cNvPr id="4577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E79191-5195-4D6A-A4C3-29DADC1CEBB1}" type="slidenum">
              <a:rPr lang="de-DE" altLang="es-CO"/>
              <a:pPr/>
              <a:t>36</a:t>
            </a:fld>
            <a:endParaRPr lang="de-DE" altLang="es-CO"/>
          </a:p>
        </p:txBody>
      </p:sp>
      <p:sp>
        <p:nvSpPr>
          <p:cNvPr id="4587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4593E0-77E2-4941-A5EF-ECC01E058EA3}" type="slidenum">
              <a:rPr lang="de-DE" altLang="es-CO"/>
              <a:pPr/>
              <a:t>37</a:t>
            </a:fld>
            <a:endParaRPr lang="de-DE" altLang="es-CO"/>
          </a:p>
        </p:txBody>
      </p:sp>
      <p:sp>
        <p:nvSpPr>
          <p:cNvPr id="4597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9006CF-2A29-4591-AEDA-6323E5CDAA74}" type="slidenum">
              <a:rPr lang="de-DE" altLang="es-CO"/>
              <a:pPr/>
              <a:t>38</a:t>
            </a:fld>
            <a:endParaRPr lang="de-DE" altLang="es-CO"/>
          </a:p>
        </p:txBody>
      </p:sp>
      <p:sp>
        <p:nvSpPr>
          <p:cNvPr id="4608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A85050-52AB-45F5-9584-50699B6D952D}" type="slidenum">
              <a:rPr lang="de-DE" altLang="es-CO"/>
              <a:pPr/>
              <a:t>39</a:t>
            </a:fld>
            <a:endParaRPr lang="de-DE" altLang="es-CO"/>
          </a:p>
        </p:txBody>
      </p:sp>
      <p:sp>
        <p:nvSpPr>
          <p:cNvPr id="4618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BC7964-A779-4A5F-B836-4A5F875DE7B8}" type="slidenum">
              <a:rPr lang="de-DE" altLang="es-CO"/>
              <a:pPr/>
              <a:t>40</a:t>
            </a:fld>
            <a:endParaRPr lang="de-DE" altLang="es-CO"/>
          </a:p>
        </p:txBody>
      </p:sp>
      <p:sp>
        <p:nvSpPr>
          <p:cNvPr id="4628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2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144DA2-D7F9-4299-9252-BF0E807817B9}" type="slidenum">
              <a:rPr lang="de-DE" altLang="es-CO"/>
              <a:pPr/>
              <a:t>42</a:t>
            </a:fld>
            <a:endParaRPr lang="de-DE" altLang="es-CO"/>
          </a:p>
        </p:txBody>
      </p:sp>
      <p:sp>
        <p:nvSpPr>
          <p:cNvPr id="4638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A3FF2F-DC1C-48F6-A460-13FDEEC86E39}" type="slidenum">
              <a:rPr lang="de-DE" altLang="es-CO"/>
              <a:pPr/>
              <a:t>43</a:t>
            </a:fld>
            <a:endParaRPr lang="de-DE" altLang="es-CO"/>
          </a:p>
        </p:txBody>
      </p:sp>
      <p:sp>
        <p:nvSpPr>
          <p:cNvPr id="4648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69104B-F6D0-4F96-BC77-FD895336E51C}" type="slidenum">
              <a:rPr lang="de-DE" altLang="es-CO"/>
              <a:pPr/>
              <a:t>44</a:t>
            </a:fld>
            <a:endParaRPr lang="de-DE" altLang="es-CO"/>
          </a:p>
        </p:txBody>
      </p:sp>
      <p:sp>
        <p:nvSpPr>
          <p:cNvPr id="4659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D15DC4-459B-43EC-AA16-7D2BE07A025B}" type="slidenum">
              <a:rPr lang="de-DE" altLang="es-CO"/>
              <a:pPr/>
              <a:t>45</a:t>
            </a:fld>
            <a:endParaRPr lang="de-DE" altLang="es-CO"/>
          </a:p>
        </p:txBody>
      </p:sp>
      <p:sp>
        <p:nvSpPr>
          <p:cNvPr id="4669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A8B4F2-D88C-4533-A042-CFC3E1689560}" type="slidenum">
              <a:rPr lang="de-DE" altLang="es-CO"/>
              <a:pPr/>
              <a:t>46</a:t>
            </a:fld>
            <a:endParaRPr lang="de-DE" altLang="es-CO"/>
          </a:p>
        </p:txBody>
      </p:sp>
      <p:sp>
        <p:nvSpPr>
          <p:cNvPr id="4679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682D86-AE4C-4C83-A23F-3C36FC18CFC2}" type="slidenum">
              <a:rPr lang="de-DE" altLang="es-CO"/>
              <a:pPr/>
              <a:t>47</a:t>
            </a:fld>
            <a:endParaRPr lang="de-DE" altLang="es-CO"/>
          </a:p>
        </p:txBody>
      </p:sp>
      <p:sp>
        <p:nvSpPr>
          <p:cNvPr id="4689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B73F00-DEEE-41B0-8B39-0CEAD2715248}" type="slidenum">
              <a:rPr lang="de-DE" altLang="es-CO"/>
              <a:pPr/>
              <a:t>48</a:t>
            </a:fld>
            <a:endParaRPr lang="de-DE" altLang="es-CO"/>
          </a:p>
        </p:txBody>
      </p:sp>
      <p:sp>
        <p:nvSpPr>
          <p:cNvPr id="5160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1E9017-9503-4D2F-B1B6-855ADB2F7654}" type="slidenum">
              <a:rPr lang="de-DE" altLang="es-CO"/>
              <a:pPr/>
              <a:t>49</a:t>
            </a:fld>
            <a:endParaRPr lang="de-DE" altLang="es-CO"/>
          </a:p>
        </p:txBody>
      </p:sp>
      <p:sp>
        <p:nvSpPr>
          <p:cNvPr id="4700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DADB17-B3A3-400D-A92F-3992D27163F7}" type="slidenum">
              <a:rPr lang="de-DE" altLang="es-CO"/>
              <a:pPr/>
              <a:t>50</a:t>
            </a:fld>
            <a:endParaRPr lang="de-DE" altLang="es-CO"/>
          </a:p>
        </p:txBody>
      </p:sp>
      <p:sp>
        <p:nvSpPr>
          <p:cNvPr id="4710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3897D7-4634-4E20-9CCA-AFB9446A1E74}" type="slidenum">
              <a:rPr lang="de-DE" altLang="es-CO"/>
              <a:pPr/>
              <a:t>51</a:t>
            </a:fld>
            <a:endParaRPr lang="de-DE" altLang="es-CO"/>
          </a:p>
        </p:txBody>
      </p:sp>
      <p:sp>
        <p:nvSpPr>
          <p:cNvPr id="5263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87F7FC-A6C8-445E-99A2-0D4AC010BF12}" type="slidenum">
              <a:rPr lang="de-DE" altLang="es-CO"/>
              <a:pPr/>
              <a:t>52</a:t>
            </a:fld>
            <a:endParaRPr lang="de-DE" altLang="es-CO"/>
          </a:p>
        </p:txBody>
      </p:sp>
      <p:sp>
        <p:nvSpPr>
          <p:cNvPr id="5242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17CB28-DFB2-4544-A671-34DC747552BA}" type="slidenum">
              <a:rPr lang="de-DE" altLang="es-CO"/>
              <a:pPr/>
              <a:t>53</a:t>
            </a:fld>
            <a:endParaRPr lang="de-DE" altLang="es-CO"/>
          </a:p>
        </p:txBody>
      </p:sp>
      <p:sp>
        <p:nvSpPr>
          <p:cNvPr id="4720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C15631-B0CD-4FAC-813D-F80B65E0BA9D}" type="slidenum">
              <a:rPr lang="de-DE" altLang="es-CO"/>
              <a:pPr/>
              <a:t>55</a:t>
            </a:fld>
            <a:endParaRPr lang="de-DE" altLang="es-CO"/>
          </a:p>
        </p:txBody>
      </p:sp>
      <p:sp>
        <p:nvSpPr>
          <p:cNvPr id="4730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109C05-CDAD-454B-864E-EB7D6217EC48}" type="slidenum">
              <a:rPr lang="de-DE" altLang="es-CO"/>
              <a:pPr/>
              <a:t>56</a:t>
            </a:fld>
            <a:endParaRPr lang="de-DE" altLang="es-CO"/>
          </a:p>
        </p:txBody>
      </p:sp>
      <p:sp>
        <p:nvSpPr>
          <p:cNvPr id="4741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453148-D02A-4CA0-811A-67046421F817}" type="slidenum">
              <a:rPr lang="de-DE" altLang="es-CO"/>
              <a:pPr/>
              <a:t>57</a:t>
            </a:fld>
            <a:endParaRPr lang="de-DE" altLang="es-CO"/>
          </a:p>
        </p:txBody>
      </p:sp>
      <p:sp>
        <p:nvSpPr>
          <p:cNvPr id="4751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236CDE-FDFF-4C6D-9854-A10C7E5FB7A0}" type="slidenum">
              <a:rPr lang="de-DE" altLang="es-CO"/>
              <a:pPr/>
              <a:t>58</a:t>
            </a:fld>
            <a:endParaRPr lang="de-DE" altLang="es-CO"/>
          </a:p>
        </p:txBody>
      </p:sp>
      <p:sp>
        <p:nvSpPr>
          <p:cNvPr id="4761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AB66E-BDC3-47D9-A0C2-C193B3316527}" type="slidenum">
              <a:rPr lang="de-DE" altLang="es-CO"/>
              <a:pPr/>
              <a:t>59</a:t>
            </a:fld>
            <a:endParaRPr lang="de-DE" altLang="es-CO"/>
          </a:p>
        </p:txBody>
      </p:sp>
      <p:sp>
        <p:nvSpPr>
          <p:cNvPr id="4771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17BD5D-92C7-4618-AD88-737CD00E54DC}" type="slidenum">
              <a:rPr lang="de-DE" altLang="es-CO"/>
              <a:pPr/>
              <a:t>60</a:t>
            </a:fld>
            <a:endParaRPr lang="de-DE" altLang="es-CO"/>
          </a:p>
        </p:txBody>
      </p:sp>
      <p:sp>
        <p:nvSpPr>
          <p:cNvPr id="5201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2D04C4-0C11-4ECB-9E12-047E887C6A3A}" type="slidenum">
              <a:rPr lang="de-DE" altLang="es-CO"/>
              <a:pPr/>
              <a:t>61</a:t>
            </a:fld>
            <a:endParaRPr lang="de-DE" altLang="es-CO"/>
          </a:p>
        </p:txBody>
      </p:sp>
      <p:sp>
        <p:nvSpPr>
          <p:cNvPr id="5283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10F055-57E1-4F7C-857D-1B6DD70C2884}" type="slidenum">
              <a:rPr lang="de-DE" altLang="es-CO"/>
              <a:pPr/>
              <a:t>62</a:t>
            </a:fld>
            <a:endParaRPr lang="de-DE" altLang="es-CO"/>
          </a:p>
        </p:txBody>
      </p:sp>
      <p:sp>
        <p:nvSpPr>
          <p:cNvPr id="5099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9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40B44D-B2D0-4B27-B4C3-8A6DAEF4C1E7}" type="slidenum">
              <a:rPr lang="de-DE" altLang="es-CO"/>
              <a:pPr/>
              <a:t>63</a:t>
            </a:fld>
            <a:endParaRPr lang="de-DE" altLang="es-CO"/>
          </a:p>
        </p:txBody>
      </p:sp>
      <p:sp>
        <p:nvSpPr>
          <p:cNvPr id="4782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0A36FB-B0F5-42CE-91D2-52F69EC2A66F}" type="slidenum">
              <a:rPr lang="de-DE" altLang="es-CO"/>
              <a:pPr/>
              <a:t>64</a:t>
            </a:fld>
            <a:endParaRPr lang="de-DE" altLang="es-CO"/>
          </a:p>
        </p:txBody>
      </p:sp>
      <p:sp>
        <p:nvSpPr>
          <p:cNvPr id="4792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13053B-5175-49CA-8F97-9D5CEA44D85C}" type="slidenum">
              <a:rPr lang="de-DE" altLang="es-CO"/>
              <a:pPr/>
              <a:t>65</a:t>
            </a:fld>
            <a:endParaRPr lang="de-DE" altLang="es-CO"/>
          </a:p>
        </p:txBody>
      </p:sp>
      <p:sp>
        <p:nvSpPr>
          <p:cNvPr id="4802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817764-BEA0-4EB6-94E7-EC916EF8C605}" type="slidenum">
              <a:rPr lang="de-DE" altLang="es-CO"/>
              <a:pPr/>
              <a:t>66</a:t>
            </a:fld>
            <a:endParaRPr lang="de-DE" altLang="es-CO"/>
          </a:p>
        </p:txBody>
      </p:sp>
      <p:sp>
        <p:nvSpPr>
          <p:cNvPr id="4812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7D00B6-25C0-4408-BE79-5FF7FD00E27A}" type="slidenum">
              <a:rPr lang="de-DE" altLang="es-CO"/>
              <a:pPr/>
              <a:t>67</a:t>
            </a:fld>
            <a:endParaRPr lang="de-DE" altLang="es-CO"/>
          </a:p>
        </p:txBody>
      </p:sp>
      <p:sp>
        <p:nvSpPr>
          <p:cNvPr id="4823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813FE2-8187-4880-A99E-FBB233F078EC}" type="slidenum">
              <a:rPr lang="de-DE" altLang="es-CO"/>
              <a:pPr/>
              <a:t>68</a:t>
            </a:fld>
            <a:endParaRPr lang="de-DE" altLang="es-CO"/>
          </a:p>
        </p:txBody>
      </p:sp>
      <p:sp>
        <p:nvSpPr>
          <p:cNvPr id="4833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38DAF9-036D-4C1D-923C-424988C1635C}" type="slidenum">
              <a:rPr lang="de-DE" altLang="es-CO"/>
              <a:pPr/>
              <a:t>69</a:t>
            </a:fld>
            <a:endParaRPr lang="de-DE" altLang="es-CO"/>
          </a:p>
        </p:txBody>
      </p:sp>
      <p:sp>
        <p:nvSpPr>
          <p:cNvPr id="4843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FABDA6-AE33-4F8D-914B-FAA1272C8741}" type="slidenum">
              <a:rPr lang="de-DE" altLang="es-CO"/>
              <a:pPr/>
              <a:t>70</a:t>
            </a:fld>
            <a:endParaRPr lang="de-DE" altLang="es-CO"/>
          </a:p>
        </p:txBody>
      </p:sp>
      <p:sp>
        <p:nvSpPr>
          <p:cNvPr id="4853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C9F44D-B43E-4396-A3F9-1EC0D2F8F013}" type="slidenum">
              <a:rPr lang="de-DE" altLang="es-CO"/>
              <a:pPr/>
              <a:t>71</a:t>
            </a:fld>
            <a:endParaRPr lang="de-DE" altLang="es-CO"/>
          </a:p>
        </p:txBody>
      </p:sp>
      <p:sp>
        <p:nvSpPr>
          <p:cNvPr id="4864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6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04C7F5-835F-41AD-8EC6-CDE3ACAEA2A6}" type="slidenum">
              <a:rPr lang="de-DE" altLang="es-CO"/>
              <a:pPr/>
              <a:t>72</a:t>
            </a:fld>
            <a:endParaRPr lang="de-DE" altLang="es-CO"/>
          </a:p>
        </p:txBody>
      </p:sp>
      <p:sp>
        <p:nvSpPr>
          <p:cNvPr id="4956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89584E-A201-4261-906E-C9F064D4F546}" type="slidenum">
              <a:rPr lang="de-DE" altLang="es-CO"/>
              <a:pPr/>
              <a:t>73</a:t>
            </a:fld>
            <a:endParaRPr lang="de-DE" altLang="es-CO"/>
          </a:p>
        </p:txBody>
      </p:sp>
      <p:sp>
        <p:nvSpPr>
          <p:cNvPr id="4874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4ECF05-9923-4E38-8624-D19411E859EE}" type="slidenum">
              <a:rPr lang="de-DE" altLang="es-CO"/>
              <a:pPr/>
              <a:t>74</a:t>
            </a:fld>
            <a:endParaRPr lang="de-DE" altLang="es-CO"/>
          </a:p>
        </p:txBody>
      </p:sp>
      <p:sp>
        <p:nvSpPr>
          <p:cNvPr id="4884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84775B-177B-4944-BF35-FD9948ED1C2C}" type="slidenum">
              <a:rPr lang="de-DE" altLang="es-CO"/>
              <a:pPr/>
              <a:t>75</a:t>
            </a:fld>
            <a:endParaRPr lang="de-DE" altLang="es-CO"/>
          </a:p>
        </p:txBody>
      </p:sp>
      <p:sp>
        <p:nvSpPr>
          <p:cNvPr id="4894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6290B5-6C5F-49A4-83B4-1282A89CB994}" type="slidenum">
              <a:rPr lang="de-DE" altLang="es-CO"/>
              <a:pPr/>
              <a:t>76</a:t>
            </a:fld>
            <a:endParaRPr lang="de-DE" altLang="es-CO"/>
          </a:p>
        </p:txBody>
      </p:sp>
      <p:sp>
        <p:nvSpPr>
          <p:cNvPr id="4904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25E14A-8E0C-4563-BE13-251C326A5B4B}" type="slidenum">
              <a:rPr lang="de-DE" altLang="es-CO"/>
              <a:pPr/>
              <a:t>77</a:t>
            </a:fld>
            <a:endParaRPr lang="de-DE" altLang="es-CO"/>
          </a:p>
        </p:txBody>
      </p:sp>
      <p:sp>
        <p:nvSpPr>
          <p:cNvPr id="4925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2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25E14A-8E0C-4563-BE13-251C326A5B4B}" type="slidenum">
              <a:rPr lang="de-DE" altLang="es-CO"/>
              <a:pPr/>
              <a:t>78</a:t>
            </a:fld>
            <a:endParaRPr lang="de-DE" altLang="es-CO"/>
          </a:p>
        </p:txBody>
      </p:sp>
      <p:sp>
        <p:nvSpPr>
          <p:cNvPr id="4925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2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C6F193-6EC4-472B-AD5F-EE8370E83E56}" type="slidenum">
              <a:rPr lang="de-DE" altLang="es-CO"/>
              <a:pPr/>
              <a:t>79</a:t>
            </a:fld>
            <a:endParaRPr lang="de-DE" altLang="es-CO"/>
          </a:p>
        </p:txBody>
      </p:sp>
      <p:sp>
        <p:nvSpPr>
          <p:cNvPr id="4915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13/08/2015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5.png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2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4.png"/><Relationship Id="rId4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4.png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3.png"/><Relationship Id="rId4" Type="http://schemas.openxmlformats.org/officeDocument/2006/relationships/oleObject" Target="../embeddings/oleObject5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4.png"/><Relationship Id="rId4" Type="http://schemas.openxmlformats.org/officeDocument/2006/relationships/oleObject" Target="../embeddings/oleObject6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40.png"/><Relationship Id="rId4" Type="http://schemas.openxmlformats.org/officeDocument/2006/relationships/oleObject" Target="../embeddings/oleObject7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44.png"/><Relationship Id="rId4" Type="http://schemas.openxmlformats.org/officeDocument/2006/relationships/oleObject" Target="../embeddings/oleObject8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7.png"/><Relationship Id="rId5" Type="http://schemas.openxmlformats.org/officeDocument/2006/relationships/oleObject" Target="../embeddings/oleObject9.bin"/><Relationship Id="rId4" Type="http://schemas.openxmlformats.org/officeDocument/2006/relationships/image" Target="../media/image48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7" Type="http://schemas.openxmlformats.org/officeDocument/2006/relationships/image" Target="../media/image80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jpeg"/><Relationship Id="rId5" Type="http://schemas.openxmlformats.org/officeDocument/2006/relationships/image" Target="../media/image78.jpeg"/><Relationship Id="rId4" Type="http://schemas.openxmlformats.org/officeDocument/2006/relationships/image" Target="../media/image77.jpe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2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smtClean="0"/>
              <a:t>Arquitectura de Computadores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 err="1" smtClean="0"/>
              <a:t>Msc</a:t>
            </a:r>
            <a:r>
              <a:rPr lang="es-CO" dirty="0" smtClean="0"/>
              <a:t>. </a:t>
            </a:r>
            <a:r>
              <a:rPr lang="es-CO" dirty="0" err="1" smtClean="0"/>
              <a:t>Ing</a:t>
            </a:r>
            <a:r>
              <a:rPr lang="es-CO" dirty="0" smtClean="0"/>
              <a:t> </a:t>
            </a:r>
            <a:r>
              <a:rPr lang="es-CO" dirty="0" err="1" smtClean="0"/>
              <a:t>Esmeide</a:t>
            </a:r>
            <a:r>
              <a:rPr lang="es-CO" dirty="0" smtClean="0"/>
              <a:t> Leal</a:t>
            </a:r>
            <a:endParaRPr lang="es-CO" dirty="0"/>
          </a:p>
        </p:txBody>
      </p:sp>
      <p:pic>
        <p:nvPicPr>
          <p:cNvPr id="5" name="Picture 2" descr="http://4.bp.blogspot.com/-DRovyyIaG4c/UF84eMdL3MI/AAAAAAACvBc/g1OSCWrhDZc/s1600/Central-Park-Computer-Model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48963"/>
            <a:ext cx="3564396" cy="237626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31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Contenido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Evolución Histórica</a:t>
            </a:r>
            <a:endParaRPr lang="es-CO" dirty="0" smtClean="0"/>
          </a:p>
          <a:p>
            <a:r>
              <a:rPr lang="es-CO" dirty="0" smtClean="0"/>
              <a:t>Tipos de Arquitecturas</a:t>
            </a:r>
            <a:endParaRPr lang="es-CO" dirty="0" smtClean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3130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smtClean="0"/>
              <a:t>Historia y Evolución de los computadores</a:t>
            </a:r>
            <a:endParaRPr lang="es-CO" dirty="0"/>
          </a:p>
        </p:txBody>
      </p:sp>
      <p:graphicFrame>
        <p:nvGraphicFramePr>
          <p:cNvPr id="11" name="1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518952"/>
              </p:ext>
            </p:extLst>
          </p:nvPr>
        </p:nvGraphicFramePr>
        <p:xfrm>
          <a:off x="251520" y="2563728"/>
          <a:ext cx="8640762" cy="2377440"/>
        </p:xfrm>
        <a:graphic>
          <a:graphicData uri="http://schemas.openxmlformats.org/drawingml/2006/table">
            <a:tbl>
              <a:tblPr/>
              <a:tblGrid>
                <a:gridCol w="1584325"/>
                <a:gridCol w="1655762"/>
                <a:gridCol w="5400675"/>
              </a:tblGrid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es-C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Generación</a:t>
                      </a:r>
                      <a:endParaRPr kumimoji="0" lang="de-DE" altLang="es-CO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es-C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Años</a:t>
                      </a:r>
                      <a:endParaRPr kumimoji="0" lang="de-DE" altLang="es-C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es-C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Características</a:t>
                      </a:r>
                      <a:endParaRPr kumimoji="0" lang="de-DE" altLang="es-C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es-C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0</a:t>
                      </a:r>
                      <a:endParaRPr kumimoji="0" lang="de-DE" altLang="es-CO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es-C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hasta 1945</a:t>
                      </a:r>
                      <a:endParaRPr kumimoji="0" lang="de-DE" altLang="es-C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Sistemas mecánicos y electro-mecánicos</a:t>
                      </a:r>
                      <a:endParaRPr kumimoji="0" lang="es-CL" altLang="es-C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es-CL" altLang="es-CO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1945 – 1955</a:t>
                      </a:r>
                      <a:endParaRPr kumimoji="0" lang="es-CL" altLang="es-CO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Tubos al vacío, tableros</a:t>
                      </a:r>
                      <a:endParaRPr kumimoji="0" lang="es-CL" altLang="es-C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es-CL" altLang="es-C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1955 – 1965</a:t>
                      </a:r>
                      <a:endParaRPr kumimoji="0" lang="es-CL" altLang="es-CO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Transistores y sistemas por lotes</a:t>
                      </a:r>
                      <a:endParaRPr kumimoji="0" lang="es-CL" altLang="es-CO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kumimoji="0" lang="es-CL" altLang="es-C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1965 – 1980</a:t>
                      </a:r>
                      <a:endParaRPr kumimoji="0" lang="es-CL" altLang="es-CO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Circuitos integrados y multiprogramación</a:t>
                      </a:r>
                      <a:endParaRPr kumimoji="0" lang="es-CL" altLang="es-CO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endParaRPr kumimoji="0" lang="es-CL" altLang="es-C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desde 1980</a:t>
                      </a:r>
                      <a:endParaRPr kumimoji="0" lang="es-CL" altLang="es-CO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altLang="es-C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Computadores personales</a:t>
                      </a:r>
                      <a:endParaRPr kumimoji="0" lang="es-CL" altLang="es-CO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65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52" name="Rectangle 12"/>
          <p:cNvSpPr>
            <a:spLocks noChangeArrowheads="1"/>
          </p:cNvSpPr>
          <p:nvPr/>
        </p:nvSpPr>
        <p:spPr bwMode="auto">
          <a:xfrm>
            <a:off x="-590550" y="5734050"/>
            <a:ext cx="104013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2800" u="none">
                <a:solidFill>
                  <a:schemeClr val="folHlink"/>
                </a:solidFill>
                <a:latin typeface="Arial" charset="0"/>
              </a:rPr>
              <a:t>El ábaco (Babilonia 3500AC, China 1300AC)</a:t>
            </a:r>
          </a:p>
        </p:txBody>
      </p:sp>
      <p:pic>
        <p:nvPicPr>
          <p:cNvPr id="147464" name="Picture 8" descr="http://neetescuela.com/wp-content/uploads/2012/12/abaco_roman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600571"/>
            <a:ext cx="3810000" cy="247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466" name="Picture 10" descr="http://www.anteayerantiguedades.com/imagenes/1374750020_grand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335" y="2301443"/>
            <a:ext cx="4733679" cy="316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1 Título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1447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7" name="Rectangle 9"/>
          <p:cNvSpPr>
            <a:spLocks noChangeArrowheads="1"/>
          </p:cNvSpPr>
          <p:nvPr/>
        </p:nvSpPr>
        <p:spPr bwMode="auto">
          <a:xfrm>
            <a:off x="-590550" y="5734050"/>
            <a:ext cx="104013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2800" u="none">
                <a:solidFill>
                  <a:schemeClr val="folHlink"/>
                </a:solidFill>
                <a:latin typeface="Arial" charset="0"/>
              </a:rPr>
              <a:t>El quipu (Perú, 1400 DC )</a:t>
            </a:r>
          </a:p>
        </p:txBody>
      </p:sp>
      <p:pic>
        <p:nvPicPr>
          <p:cNvPr id="498699" name="Picture 11" descr="El Quipucamayo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25538"/>
            <a:ext cx="3829050" cy="428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8701" name="Picture 13" descr="imageQ0U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1133475"/>
            <a:ext cx="3219450" cy="426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5605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92" name="Rectangle 8"/>
          <p:cNvSpPr>
            <a:spLocks noChangeArrowheads="1"/>
          </p:cNvSpPr>
          <p:nvPr/>
        </p:nvSpPr>
        <p:spPr bwMode="auto">
          <a:xfrm>
            <a:off x="0" y="5734050"/>
            <a:ext cx="56515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Difference Engine (1822)</a:t>
            </a:r>
          </a:p>
        </p:txBody>
      </p:sp>
      <p:sp>
        <p:nvSpPr>
          <p:cNvPr id="349193" name="Rectangle 9"/>
          <p:cNvSpPr>
            <a:spLocks noChangeArrowheads="1"/>
          </p:cNvSpPr>
          <p:nvPr/>
        </p:nvSpPr>
        <p:spPr bwMode="auto">
          <a:xfrm>
            <a:off x="4932363" y="3613150"/>
            <a:ext cx="4211637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>
                <a:solidFill>
                  <a:srgbClr val="FFFFFF"/>
                </a:solidFill>
                <a:latin typeface="Arial" charset="0"/>
              </a:rPr>
              <a:t>Primera Computadora Digital (mecánica)</a:t>
            </a:r>
          </a:p>
          <a:p>
            <a:endParaRPr lang="de-DE" altLang="es-CO" sz="1600" b="1" u="none">
              <a:solidFill>
                <a:srgbClr val="FFFFFF"/>
              </a:solidFill>
              <a:latin typeface="Arial" charset="0"/>
            </a:endParaRPr>
          </a:p>
          <a:p>
            <a:r>
              <a:rPr lang="de-DE" altLang="es-CO" sz="1600" b="1" u="none">
                <a:solidFill>
                  <a:srgbClr val="FFFFFF"/>
                </a:solidFill>
                <a:latin typeface="Arial" charset="0"/>
              </a:rPr>
              <a:t>Usada para calcular tablas numéricas, calculaba cualquier función</a:t>
            </a:r>
          </a:p>
          <a:p>
            <a:r>
              <a:rPr lang="de-DE" altLang="es-CO" sz="1600" b="1" u="none">
                <a:solidFill>
                  <a:srgbClr val="FFFFFF"/>
                </a:solidFill>
                <a:latin typeface="Arial" charset="0"/>
              </a:rPr>
              <a:t>algebraica y almacenaba números. Se programaba con tarjetas.</a:t>
            </a:r>
          </a:p>
          <a:p>
            <a:endParaRPr lang="de-DE" altLang="es-CO" sz="1600" b="1" u="none">
              <a:solidFill>
                <a:srgbClr val="FFFFFF"/>
              </a:solidFill>
              <a:latin typeface="Arial" charset="0"/>
            </a:endParaRPr>
          </a:p>
          <a:p>
            <a:r>
              <a:rPr lang="de-DE" altLang="es-CO" sz="1600" b="1" u="none">
                <a:solidFill>
                  <a:srgbClr val="FFFFFF"/>
                </a:solidFill>
                <a:latin typeface="Arial" charset="0"/>
              </a:rPr>
              <a:t>Charles Babbage y Ada Lovelace.</a:t>
            </a:r>
          </a:p>
        </p:txBody>
      </p:sp>
      <p:pic>
        <p:nvPicPr>
          <p:cNvPr id="349194" name="Picture 10" descr="diff_e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45746"/>
            <a:ext cx="2998242" cy="393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  <p:pic>
        <p:nvPicPr>
          <p:cNvPr id="143362" name="Picture 2" descr="http://tec.nologia.com/wp-content/uploads/2009/12/maquina-diferencial-charles-babbag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645746"/>
            <a:ext cx="4719498" cy="315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576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9" name="Rectangle 7"/>
          <p:cNvSpPr>
            <a:spLocks noChangeArrowheads="1"/>
          </p:cNvSpPr>
          <p:nvPr/>
        </p:nvSpPr>
        <p:spPr bwMode="auto">
          <a:xfrm>
            <a:off x="1485900" y="5734050"/>
            <a:ext cx="56515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Census Tabulator (1890)</a:t>
            </a:r>
          </a:p>
        </p:txBody>
      </p:sp>
      <p:pic>
        <p:nvPicPr>
          <p:cNvPr id="504844" name="Picture 12" descr="1_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1133475"/>
            <a:ext cx="6448425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4884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7" name="Rectangle 7"/>
          <p:cNvSpPr>
            <a:spLocks noChangeArrowheads="1"/>
          </p:cNvSpPr>
          <p:nvPr/>
        </p:nvSpPr>
        <p:spPr bwMode="auto">
          <a:xfrm>
            <a:off x="1333500" y="5734050"/>
            <a:ext cx="66611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Máquinas de escribir (1890)</a:t>
            </a:r>
          </a:p>
        </p:txBody>
      </p:sp>
      <p:pic>
        <p:nvPicPr>
          <p:cNvPr id="506891" name="Picture 11" descr="2_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499" y="1290275"/>
            <a:ext cx="6753225" cy="445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3828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600" name="Rectangle 8"/>
          <p:cNvSpPr>
            <a:spLocks noChangeArrowheads="1"/>
          </p:cNvSpPr>
          <p:nvPr/>
        </p:nvSpPr>
        <p:spPr bwMode="auto">
          <a:xfrm>
            <a:off x="0" y="5734050"/>
            <a:ext cx="60118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Harvard Mark I (1930)</a:t>
            </a:r>
          </a:p>
        </p:txBody>
      </p:sp>
      <p:pic>
        <p:nvPicPr>
          <p:cNvPr id="366601" name="Picture 9" descr="ascc_re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33554"/>
            <a:ext cx="5687764" cy="4357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6602" name="Rectangle 10"/>
          <p:cNvSpPr>
            <a:spLocks noChangeArrowheads="1"/>
          </p:cNvSpPr>
          <p:nvPr/>
        </p:nvSpPr>
        <p:spPr bwMode="auto">
          <a:xfrm>
            <a:off x="6119813" y="4797425"/>
            <a:ext cx="302418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>
                <a:solidFill>
                  <a:srgbClr val="FFFFFF"/>
                </a:solidFill>
                <a:latin typeface="Arial" charset="0"/>
              </a:rPr>
              <a:t>Usada para computar tablas matemáticas y de navegación.</a:t>
            </a:r>
            <a:r>
              <a:rPr lang="de-DE" altLang="es-CO" sz="1600" b="1">
                <a:solidFill>
                  <a:srgbClr val="FFFFFF"/>
                </a:solidFill>
                <a:latin typeface="Arial" charset="0"/>
              </a:rPr>
              <a:t> </a:t>
            </a: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0304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6" name="Rectangle 8"/>
          <p:cNvSpPr>
            <a:spLocks noChangeArrowheads="1"/>
          </p:cNvSpPr>
          <p:nvPr/>
        </p:nvSpPr>
        <p:spPr bwMode="auto">
          <a:xfrm>
            <a:off x="323850" y="1341438"/>
            <a:ext cx="84248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La primera generación (1940-1955)</a:t>
            </a:r>
          </a:p>
        </p:txBody>
      </p:sp>
      <p:sp>
        <p:nvSpPr>
          <p:cNvPr id="365577" name="Text Box 9"/>
          <p:cNvSpPr txBox="1">
            <a:spLocks noChangeArrowheads="1"/>
          </p:cNvSpPr>
          <p:nvPr/>
        </p:nvSpPr>
        <p:spPr bwMode="auto">
          <a:xfrm>
            <a:off x="663575" y="2582863"/>
            <a:ext cx="8229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</a:rPr>
              <a:t> Luego se utilizan </a:t>
            </a:r>
            <a:r>
              <a:rPr lang="es-CL" altLang="es-CO" b="1" u="none" dirty="0">
                <a:latin typeface="Arial" charset="0"/>
              </a:rPr>
              <a:t>tubos al vacío</a:t>
            </a:r>
          </a:p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</a:rPr>
              <a:t> Eran enormes (20.000 tubos) y lentas (un ciclo </a:t>
            </a:r>
            <a:r>
              <a:rPr lang="es-CL" altLang="es-CO" u="none" dirty="0">
                <a:latin typeface="Arial" charset="0"/>
                <a:sym typeface="Symbol" pitchFamily="18" charset="2"/>
              </a:rPr>
              <a:t> 1 </a:t>
            </a:r>
            <a:r>
              <a:rPr lang="es-CL" altLang="es-CO" u="none" dirty="0" err="1">
                <a:latin typeface="Arial" charset="0"/>
                <a:sym typeface="Symbol" pitchFamily="18" charset="2"/>
              </a:rPr>
              <a:t>seg</a:t>
            </a:r>
            <a:r>
              <a:rPr lang="es-CL" altLang="es-CO" u="none" dirty="0">
                <a:latin typeface="Arial" charset="0"/>
                <a:sym typeface="Symbol" pitchFamily="18" charset="2"/>
              </a:rPr>
              <a:t>.)</a:t>
            </a:r>
          </a:p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Un solo grupo diseñaba, construía, programaba, operaba y mantenía </a:t>
            </a:r>
            <a:r>
              <a:rPr lang="es-CL" altLang="es-CO" u="none" dirty="0" smtClean="0">
                <a:latin typeface="Arial" charset="0"/>
                <a:sym typeface="Symbol" pitchFamily="18" charset="2"/>
              </a:rPr>
              <a:t>cada máquina</a:t>
            </a:r>
            <a:r>
              <a:rPr lang="es-CL" altLang="es-CO" u="none" dirty="0">
                <a:latin typeface="Arial" charset="0"/>
                <a:sym typeface="Symbol" pitchFamily="18" charset="2"/>
              </a:rPr>
              <a:t>.</a:t>
            </a:r>
          </a:p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Toda la programación se hacía en lenguaje máquina (alambrando </a:t>
            </a:r>
            <a:r>
              <a:rPr lang="es-CL" altLang="es-CO" b="1" u="none" dirty="0" smtClean="0">
                <a:latin typeface="Arial" charset="0"/>
                <a:sym typeface="Symbol" pitchFamily="18" charset="2"/>
              </a:rPr>
              <a:t>tableros</a:t>
            </a:r>
            <a:r>
              <a:rPr lang="es-CL" altLang="es-CO" dirty="0" smtClean="0">
                <a:latin typeface="Arial" charset="0"/>
                <a:sym typeface="Symbol" pitchFamily="18" charset="2"/>
              </a:rPr>
              <a:t> </a:t>
            </a:r>
            <a:r>
              <a:rPr lang="es-CL" altLang="es-CO" u="none" dirty="0" smtClean="0">
                <a:latin typeface="Arial" charset="0"/>
                <a:sym typeface="Symbol" pitchFamily="18" charset="2"/>
              </a:rPr>
              <a:t>por </a:t>
            </a:r>
            <a:r>
              <a:rPr lang="es-CL" altLang="es-CO" u="none" dirty="0">
                <a:latin typeface="Arial" charset="0"/>
                <a:sym typeface="Symbol" pitchFamily="18" charset="2"/>
              </a:rPr>
              <a:t>ejemplo).</a:t>
            </a:r>
          </a:p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No existían los sistemas operativos.</a:t>
            </a:r>
          </a:p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En 1950 se introducen las tarjetas perforadas.</a:t>
            </a:r>
          </a:p>
          <a:p>
            <a:pPr algn="just">
              <a:buFontTx/>
              <a:buChar char="•"/>
            </a:pPr>
            <a:endParaRPr lang="en-US" altLang="es-CO" u="none" dirty="0">
              <a:latin typeface="Arial" charset="0"/>
            </a:endParaRPr>
          </a:p>
        </p:txBody>
      </p:sp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172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7" name="Rectangle 11"/>
          <p:cNvSpPr>
            <a:spLocks noChangeArrowheads="1"/>
          </p:cNvSpPr>
          <p:nvPr/>
        </p:nvSpPr>
        <p:spPr bwMode="auto">
          <a:xfrm>
            <a:off x="2628900" y="5734050"/>
            <a:ext cx="40306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 dirty="0" smtClean="0">
                <a:solidFill>
                  <a:schemeClr val="folHlink"/>
                </a:solidFill>
                <a:latin typeface="Arial" charset="0"/>
              </a:rPr>
              <a:t>Regla de Cálculo</a:t>
            </a:r>
            <a:endParaRPr lang="es-CL" altLang="es-CO" sz="3600" u="none" dirty="0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  <p:pic>
        <p:nvPicPr>
          <p:cNvPr id="151554" name="Picture 2" descr="http://cloud2.todocoleccion.net/antiguedades/tc/2012/06/11/3211629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356876"/>
            <a:ext cx="7273248" cy="4377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24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74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981075"/>
            <a:ext cx="619125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0748" name="Rectangle 12"/>
          <p:cNvSpPr>
            <a:spLocks noChangeArrowheads="1"/>
          </p:cNvSpPr>
          <p:nvPr/>
        </p:nvSpPr>
        <p:spPr bwMode="auto">
          <a:xfrm>
            <a:off x="1371600" y="5829300"/>
            <a:ext cx="58785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Tubo al vacío</a:t>
            </a:r>
          </a:p>
        </p:txBody>
      </p:sp>
      <p:pic>
        <p:nvPicPr>
          <p:cNvPr id="500750" name="Picture 14" descr="valvul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3638550"/>
            <a:ext cx="187642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0752" name="Picture 16" descr="FOTOS02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0" y="738188"/>
            <a:ext cx="1809750" cy="302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2103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17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556865"/>
              </p:ext>
            </p:extLst>
          </p:nvPr>
        </p:nvGraphicFramePr>
        <p:xfrm>
          <a:off x="1476610" y="1342033"/>
          <a:ext cx="6270153" cy="4392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78" name="Fotografía de Photo Editor" r:id="rId4" imgW="3591426" imgH="2514286" progId="MSPhotoEd.3">
                  <p:embed/>
                </p:oleObj>
              </mc:Choice>
              <mc:Fallback>
                <p:oleObj name="Fotografía de Photo Editor" r:id="rId4" imgW="3591426" imgH="2514286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610" y="1342033"/>
                        <a:ext cx="6270153" cy="43920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6" name="Rectangle 10"/>
          <p:cNvSpPr>
            <a:spLocks noChangeArrowheads="1"/>
          </p:cNvSpPr>
          <p:nvPr/>
        </p:nvSpPr>
        <p:spPr bwMode="auto">
          <a:xfrm>
            <a:off x="4788172" y="4548188"/>
            <a:ext cx="302418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 dirty="0">
                <a:solidFill>
                  <a:srgbClr val="FFFF66"/>
                </a:solidFill>
                <a:latin typeface="Arial" charset="0"/>
              </a:rPr>
              <a:t>Usada en la Segunda Guerra Mundial para decifrar los mensajes de los alemanes.</a:t>
            </a:r>
            <a:r>
              <a:rPr lang="de-DE" altLang="es-CO" sz="1600" b="1" dirty="0">
                <a:solidFill>
                  <a:srgbClr val="FFFF66"/>
                </a:solidFill>
                <a:latin typeface="Arial" charset="0"/>
              </a:rPr>
              <a:t> </a:t>
            </a:r>
          </a:p>
        </p:txBody>
      </p:sp>
      <p:sp>
        <p:nvSpPr>
          <p:cNvPr id="331787" name="Rectangle 11"/>
          <p:cNvSpPr>
            <a:spLocks noChangeArrowheads="1"/>
          </p:cNvSpPr>
          <p:nvPr/>
        </p:nvSpPr>
        <p:spPr bwMode="auto">
          <a:xfrm>
            <a:off x="2628900" y="5734050"/>
            <a:ext cx="40306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Colossus (1945)</a:t>
            </a: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063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85" name="Rectangle 9"/>
          <p:cNvSpPr>
            <a:spLocks noChangeArrowheads="1"/>
          </p:cNvSpPr>
          <p:nvPr/>
        </p:nvSpPr>
        <p:spPr bwMode="auto">
          <a:xfrm>
            <a:off x="2628900" y="5734050"/>
            <a:ext cx="40306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 dirty="0">
                <a:solidFill>
                  <a:schemeClr val="folHlink"/>
                </a:solidFill>
                <a:latin typeface="Arial" charset="0"/>
              </a:rPr>
              <a:t>IAS (1952)</a:t>
            </a:r>
          </a:p>
        </p:txBody>
      </p:sp>
      <p:pic>
        <p:nvPicPr>
          <p:cNvPr id="510988" name="Picture 12" descr="1_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02" y="1373188"/>
            <a:ext cx="5668963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0989" name="Text Box 13"/>
          <p:cNvSpPr txBox="1">
            <a:spLocks noChangeArrowheads="1"/>
          </p:cNvSpPr>
          <p:nvPr/>
        </p:nvSpPr>
        <p:spPr bwMode="auto">
          <a:xfrm>
            <a:off x="6326188" y="1373188"/>
            <a:ext cx="167545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s-CL" altLang="es-CO" u="none" dirty="0">
              <a:latin typeface="Arial" charset="0"/>
            </a:endParaRP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2300 tubos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US$ </a:t>
            </a:r>
            <a:r>
              <a:rPr lang="es-CL" altLang="es-CO" u="none" dirty="0" smtClean="0">
                <a:latin typeface="Arial" charset="0"/>
              </a:rPr>
              <a:t>500.000</a:t>
            </a:r>
            <a:endParaRPr lang="es-CL" altLang="es-CO" u="none" dirty="0">
              <a:latin typeface="Arial" charset="0"/>
            </a:endParaRP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3166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7" name="Rectangle 9"/>
          <p:cNvSpPr>
            <a:spLocks noChangeArrowheads="1"/>
          </p:cNvSpPr>
          <p:nvPr/>
        </p:nvSpPr>
        <p:spPr bwMode="auto">
          <a:xfrm>
            <a:off x="0" y="5832475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ENIAC (1946)</a:t>
            </a:r>
          </a:p>
        </p:txBody>
      </p:sp>
      <p:pic>
        <p:nvPicPr>
          <p:cNvPr id="345099" name="Picture 11" descr="enia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436719"/>
            <a:ext cx="5413028" cy="436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1405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20" name="Rectangle 8"/>
          <p:cNvSpPr>
            <a:spLocks noChangeArrowheads="1"/>
          </p:cNvSpPr>
          <p:nvPr/>
        </p:nvSpPr>
        <p:spPr bwMode="auto">
          <a:xfrm>
            <a:off x="0" y="5832475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UNIVAC (1946)</a:t>
            </a:r>
          </a:p>
        </p:txBody>
      </p:sp>
      <p:pic>
        <p:nvPicPr>
          <p:cNvPr id="346123" name="Picture 11" descr="eniac_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149350"/>
            <a:ext cx="5761037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2582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91" name="Rectangle 7"/>
          <p:cNvSpPr>
            <a:spLocks noChangeArrowheads="1"/>
          </p:cNvSpPr>
          <p:nvPr/>
        </p:nvSpPr>
        <p:spPr bwMode="auto">
          <a:xfrm>
            <a:off x="0" y="5832475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UNIVAC (1946)</a:t>
            </a:r>
          </a:p>
        </p:txBody>
      </p:sp>
      <p:pic>
        <p:nvPicPr>
          <p:cNvPr id="502795" name="Picture 11" descr="1_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438275"/>
            <a:ext cx="48768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2796" name="Text Box 12"/>
          <p:cNvSpPr txBox="1">
            <a:spLocks noChangeArrowheads="1"/>
          </p:cNvSpPr>
          <p:nvPr/>
        </p:nvSpPr>
        <p:spPr bwMode="auto">
          <a:xfrm>
            <a:off x="5699125" y="1335088"/>
            <a:ext cx="21755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7200 kg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5000 tubos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1000 cálculos/</a:t>
            </a:r>
            <a:r>
              <a:rPr lang="es-CL" altLang="es-CO" u="none" dirty="0" err="1">
                <a:latin typeface="Arial" charset="0"/>
              </a:rPr>
              <a:t>seg</a:t>
            </a:r>
            <a:endParaRPr lang="es-CL" altLang="es-CO" u="none" dirty="0">
              <a:latin typeface="Arial" charset="0"/>
            </a:endParaRPr>
          </a:p>
          <a:p>
            <a:pPr>
              <a:buFontTx/>
              <a:buChar char="•"/>
            </a:pPr>
            <a:endParaRPr lang="en-US" altLang="es-CO" u="none" dirty="0">
              <a:latin typeface="Arial" charset="0"/>
            </a:endParaRP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3366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44" name="Rectangle 8"/>
          <p:cNvSpPr>
            <a:spLocks noChangeArrowheads="1"/>
          </p:cNvSpPr>
          <p:nvPr/>
        </p:nvSpPr>
        <p:spPr bwMode="auto">
          <a:xfrm>
            <a:off x="0" y="5832475"/>
            <a:ext cx="57245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Manchester Mark I (1948)</a:t>
            </a:r>
          </a:p>
        </p:txBody>
      </p:sp>
      <p:pic>
        <p:nvPicPr>
          <p:cNvPr id="347147" name="Picture 11" descr="manche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1194916"/>
            <a:ext cx="5686747" cy="452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7148" name="Rectangle 12"/>
          <p:cNvSpPr>
            <a:spLocks noChangeArrowheads="1"/>
          </p:cNvSpPr>
          <p:nvPr/>
        </p:nvSpPr>
        <p:spPr bwMode="auto">
          <a:xfrm>
            <a:off x="6119813" y="4624388"/>
            <a:ext cx="2700337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 dirty="0">
                <a:latin typeface="Arial" charset="0"/>
              </a:rPr>
              <a:t>Primera máquina que funcionó con un programa almacenado.</a:t>
            </a:r>
            <a:r>
              <a:rPr lang="de-DE" altLang="es-CO" sz="1600" b="1" dirty="0">
                <a:latin typeface="Arial" charset="0"/>
              </a:rPr>
              <a:t> </a:t>
            </a:r>
          </a:p>
          <a:p>
            <a:r>
              <a:rPr lang="de-DE" altLang="es-CO" sz="1600" b="1" dirty="0">
                <a:latin typeface="Arial" charset="0"/>
              </a:rPr>
              <a:t>John von Neumann, Princeton</a:t>
            </a: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059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6" name="Rectangle 8"/>
          <p:cNvSpPr>
            <a:spLocks noChangeArrowheads="1"/>
          </p:cNvSpPr>
          <p:nvPr/>
        </p:nvSpPr>
        <p:spPr bwMode="auto">
          <a:xfrm>
            <a:off x="323850" y="1341438"/>
            <a:ext cx="84248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La segunda generación (1955-1965)</a:t>
            </a:r>
          </a:p>
        </p:txBody>
      </p:sp>
      <p:sp>
        <p:nvSpPr>
          <p:cNvPr id="355337" name="Text Box 9"/>
          <p:cNvSpPr txBox="1">
            <a:spLocks noChangeArrowheads="1"/>
          </p:cNvSpPr>
          <p:nvPr/>
        </p:nvSpPr>
        <p:spPr bwMode="auto">
          <a:xfrm>
            <a:off x="663575" y="2582863"/>
            <a:ext cx="8229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</a:rPr>
              <a:t> Se introducen los </a:t>
            </a:r>
            <a:r>
              <a:rPr lang="es-CL" altLang="es-CO" b="1" u="none" dirty="0">
                <a:latin typeface="Arial" charset="0"/>
              </a:rPr>
              <a:t>transistores</a:t>
            </a:r>
            <a:r>
              <a:rPr lang="es-CL" altLang="es-CO" u="none" dirty="0">
                <a:latin typeface="Arial" charset="0"/>
              </a:rPr>
              <a:t>.</a:t>
            </a:r>
          </a:p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Distinción entre diseñadores, constructores, programadores, operadores y personal de mantenimiento.</a:t>
            </a:r>
          </a:p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Mainframes en salas acondicionadas.</a:t>
            </a:r>
          </a:p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Se escribían los programas en papel, luego se perforaban las tarjetas, cuarto de entrada, café, esperar la salida.</a:t>
            </a:r>
          </a:p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Los operadores toman las tarjetas del programa y colocan también los del compilador.</a:t>
            </a:r>
          </a:p>
          <a:p>
            <a:pPr algn="just"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Se crea el proceso por lotes que agrupa trabajos.</a:t>
            </a:r>
          </a:p>
          <a:p>
            <a:pPr algn="just">
              <a:buFontTx/>
              <a:buChar char="•"/>
            </a:pPr>
            <a:endParaRPr lang="en-US" altLang="es-CO" u="none" dirty="0">
              <a:latin typeface="Arial" charset="0"/>
            </a:endParaRPr>
          </a:p>
        </p:txBody>
      </p:sp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6067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6" name="Rectangle 8"/>
          <p:cNvSpPr>
            <a:spLocks noChangeArrowheads="1"/>
          </p:cNvSpPr>
          <p:nvPr/>
        </p:nvSpPr>
        <p:spPr bwMode="auto">
          <a:xfrm>
            <a:off x="1439863" y="5832475"/>
            <a:ext cx="57245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Transistor (1947)</a:t>
            </a:r>
          </a:p>
        </p:txBody>
      </p:sp>
      <p:pic>
        <p:nvPicPr>
          <p:cNvPr id="350225" name="Picture 17" descr="47tra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340768"/>
            <a:ext cx="4469482" cy="446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0000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60" name="Rectangle 8"/>
          <p:cNvSpPr>
            <a:spLocks noChangeArrowheads="1"/>
          </p:cNvSpPr>
          <p:nvPr/>
        </p:nvSpPr>
        <p:spPr bwMode="auto">
          <a:xfrm>
            <a:off x="0" y="5832475"/>
            <a:ext cx="57245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JOHNNIAC (1954)</a:t>
            </a:r>
          </a:p>
        </p:txBody>
      </p:sp>
      <p:sp>
        <p:nvSpPr>
          <p:cNvPr id="356361" name="Rectangle 9"/>
          <p:cNvSpPr>
            <a:spLocks noChangeArrowheads="1"/>
          </p:cNvSpPr>
          <p:nvPr/>
        </p:nvSpPr>
        <p:spPr bwMode="auto">
          <a:xfrm>
            <a:off x="6084888" y="4935538"/>
            <a:ext cx="27003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 dirty="0">
                <a:latin typeface="Arial" charset="0"/>
              </a:rPr>
              <a:t>Máquina que funcionaba con tarjetas.</a:t>
            </a:r>
            <a:endParaRPr lang="de-DE" altLang="es-CO" sz="1600" b="1" dirty="0">
              <a:latin typeface="Arial" charset="0"/>
            </a:endParaRPr>
          </a:p>
        </p:txBody>
      </p:sp>
      <p:pic>
        <p:nvPicPr>
          <p:cNvPr id="356362" name="Picture 10" descr="uncaph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3" y="1461324"/>
            <a:ext cx="5256857" cy="407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563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856154"/>
              </p:ext>
            </p:extLst>
          </p:nvPr>
        </p:nvGraphicFramePr>
        <p:xfrm>
          <a:off x="5668714" y="1196702"/>
          <a:ext cx="3079750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4" name="Fotografía de Photo Editor" r:id="rId5" imgW="1238423" imgH="1448002" progId="MSPhotoEd.3">
                  <p:embed/>
                </p:oleObj>
              </mc:Choice>
              <mc:Fallback>
                <p:oleObj name="Fotografía de Photo Editor" r:id="rId5" imgW="1238423" imgH="1448002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8714" y="1196702"/>
                        <a:ext cx="3079750" cy="36004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6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6364" name="Rectangle 12"/>
          <p:cNvSpPr>
            <a:spLocks noChangeArrowheads="1"/>
          </p:cNvSpPr>
          <p:nvPr/>
        </p:nvSpPr>
        <p:spPr bwMode="auto">
          <a:xfrm>
            <a:off x="3492500" y="2133600"/>
            <a:ext cx="1439863" cy="1800225"/>
          </a:xfrm>
          <a:prstGeom prst="rect">
            <a:avLst/>
          </a:prstGeom>
          <a:noFill/>
          <a:ln w="28575">
            <a:solidFill>
              <a:srgbClr val="FFFF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1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3285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54" name="Object 14"/>
          <p:cNvGraphicFramePr>
            <a:graphicFrameLocks noChangeAspect="1"/>
          </p:cNvGraphicFramePr>
          <p:nvPr/>
        </p:nvGraphicFramePr>
        <p:xfrm>
          <a:off x="1258888" y="2133600"/>
          <a:ext cx="6637337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6" name="Fotografía de Photo Editor" r:id="rId4" imgW="6638095" imgH="3134162" progId="MSPhotoEd.3">
                  <p:embed/>
                </p:oleObj>
              </mc:Choice>
              <mc:Fallback>
                <p:oleObj name="Fotografía de Photo Editor" r:id="rId4" imgW="6638095" imgH="3134162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133600"/>
                        <a:ext cx="6637337" cy="313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55" name="Rectangle 15"/>
          <p:cNvSpPr>
            <a:spLocks noChangeArrowheads="1"/>
          </p:cNvSpPr>
          <p:nvPr/>
        </p:nvSpPr>
        <p:spPr bwMode="auto">
          <a:xfrm>
            <a:off x="1724025" y="5861050"/>
            <a:ext cx="57245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Tarjeta sin perforar</a:t>
            </a:r>
          </a:p>
        </p:txBody>
      </p:sp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2534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9672" name="Object 8"/>
          <p:cNvGraphicFramePr>
            <a:graphicFrameLocks noChangeAspect="1"/>
          </p:cNvGraphicFramePr>
          <p:nvPr/>
        </p:nvGraphicFramePr>
        <p:xfrm>
          <a:off x="1258888" y="2133600"/>
          <a:ext cx="6637337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8" name="Fotografía de Photo Editor" r:id="rId4" imgW="6638095" imgH="3134162" progId="MSPhotoEd.3">
                  <p:embed/>
                </p:oleObj>
              </mc:Choice>
              <mc:Fallback>
                <p:oleObj name="Fotografía de Photo Editor" r:id="rId4" imgW="6638095" imgH="3134162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133600"/>
                        <a:ext cx="6637337" cy="313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673" name="Text Box 9"/>
          <p:cNvSpPr txBox="1">
            <a:spLocks noChangeArrowheads="1"/>
          </p:cNvSpPr>
          <p:nvPr/>
        </p:nvSpPr>
        <p:spPr bwMode="auto">
          <a:xfrm>
            <a:off x="1476375" y="2422525"/>
            <a:ext cx="727075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CL" altLang="es-CO" sz="800" u="none">
                <a:latin typeface="Courier" pitchFamily="49" charset="0"/>
              </a:rPr>
              <a:t>A = 1 5 6</a:t>
            </a:r>
            <a:endParaRPr lang="en-US" altLang="es-CO" sz="800" u="none">
              <a:latin typeface="Courier" pitchFamily="49" charset="0"/>
            </a:endParaRPr>
          </a:p>
        </p:txBody>
      </p:sp>
      <p:sp>
        <p:nvSpPr>
          <p:cNvPr id="369674" name="Rectangle 10"/>
          <p:cNvSpPr>
            <a:spLocks noChangeArrowheads="1"/>
          </p:cNvSpPr>
          <p:nvPr/>
        </p:nvSpPr>
        <p:spPr bwMode="auto">
          <a:xfrm>
            <a:off x="1547813" y="2852738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369675" name="Rectangle 11"/>
          <p:cNvSpPr>
            <a:spLocks noChangeArrowheads="1"/>
          </p:cNvSpPr>
          <p:nvPr/>
        </p:nvSpPr>
        <p:spPr bwMode="auto">
          <a:xfrm>
            <a:off x="1547813" y="3313113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369676" name="Rectangle 12"/>
          <p:cNvSpPr>
            <a:spLocks noChangeArrowheads="1"/>
          </p:cNvSpPr>
          <p:nvPr/>
        </p:nvSpPr>
        <p:spPr bwMode="auto">
          <a:xfrm>
            <a:off x="1698625" y="3082925"/>
            <a:ext cx="71438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369677" name="Rectangle 13"/>
          <p:cNvSpPr>
            <a:spLocks noChangeArrowheads="1"/>
          </p:cNvSpPr>
          <p:nvPr/>
        </p:nvSpPr>
        <p:spPr bwMode="auto">
          <a:xfrm>
            <a:off x="1778000" y="3522663"/>
            <a:ext cx="71438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369678" name="Rectangle 14"/>
          <p:cNvSpPr>
            <a:spLocks noChangeArrowheads="1"/>
          </p:cNvSpPr>
          <p:nvPr/>
        </p:nvSpPr>
        <p:spPr bwMode="auto">
          <a:xfrm>
            <a:off x="1855788" y="3754438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369679" name="Rectangle 15"/>
          <p:cNvSpPr>
            <a:spLocks noChangeArrowheads="1"/>
          </p:cNvSpPr>
          <p:nvPr/>
        </p:nvSpPr>
        <p:spPr bwMode="auto">
          <a:xfrm>
            <a:off x="1922463" y="4194175"/>
            <a:ext cx="71437" cy="714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369680" name="Rectangle 16"/>
          <p:cNvSpPr>
            <a:spLocks noChangeArrowheads="1"/>
          </p:cNvSpPr>
          <p:nvPr/>
        </p:nvSpPr>
        <p:spPr bwMode="auto">
          <a:xfrm>
            <a:off x="1927225" y="3303588"/>
            <a:ext cx="71438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369681" name="Rectangle 17"/>
          <p:cNvSpPr>
            <a:spLocks noChangeArrowheads="1"/>
          </p:cNvSpPr>
          <p:nvPr/>
        </p:nvSpPr>
        <p:spPr bwMode="auto">
          <a:xfrm>
            <a:off x="1922463" y="4408488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369682" name="Rectangle 18"/>
          <p:cNvSpPr>
            <a:spLocks noChangeArrowheads="1"/>
          </p:cNvSpPr>
          <p:nvPr/>
        </p:nvSpPr>
        <p:spPr bwMode="auto">
          <a:xfrm>
            <a:off x="2008188" y="3970338"/>
            <a:ext cx="71437" cy="714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369683" name="Rectangle 19"/>
          <p:cNvSpPr>
            <a:spLocks noChangeArrowheads="1"/>
          </p:cNvSpPr>
          <p:nvPr/>
        </p:nvSpPr>
        <p:spPr bwMode="auto">
          <a:xfrm>
            <a:off x="1724025" y="5861050"/>
            <a:ext cx="57245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Tarjeta perforada</a:t>
            </a:r>
          </a:p>
        </p:txBody>
      </p:sp>
      <p:sp>
        <p:nvSpPr>
          <p:cNvPr id="369684" name="Oval 20"/>
          <p:cNvSpPr>
            <a:spLocks noChangeArrowheads="1"/>
          </p:cNvSpPr>
          <p:nvPr/>
        </p:nvSpPr>
        <p:spPr bwMode="auto">
          <a:xfrm>
            <a:off x="1323975" y="2247900"/>
            <a:ext cx="1095375" cy="495300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369685" name="Line 21"/>
          <p:cNvSpPr>
            <a:spLocks noChangeShapeType="1"/>
          </p:cNvSpPr>
          <p:nvPr/>
        </p:nvSpPr>
        <p:spPr bwMode="auto">
          <a:xfrm flipV="1">
            <a:off x="2286000" y="1819275"/>
            <a:ext cx="1228725" cy="5238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69686" name="Rectangle 22"/>
          <p:cNvSpPr>
            <a:spLocks noChangeArrowheads="1"/>
          </p:cNvSpPr>
          <p:nvPr/>
        </p:nvSpPr>
        <p:spPr bwMode="auto">
          <a:xfrm>
            <a:off x="3627438" y="1504950"/>
            <a:ext cx="2700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 dirty="0">
                <a:latin typeface="Arial" charset="0"/>
              </a:rPr>
              <a:t>Línea de programa</a:t>
            </a:r>
            <a:endParaRPr lang="de-DE" altLang="es-CO" sz="1600" b="1" dirty="0">
              <a:latin typeface="Arial" charset="0"/>
            </a:endParaRPr>
          </a:p>
        </p:txBody>
      </p:sp>
      <p:sp>
        <p:nvSpPr>
          <p:cNvPr id="2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2983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40" name="Rectangle 8"/>
          <p:cNvSpPr>
            <a:spLocks noChangeArrowheads="1"/>
          </p:cNvSpPr>
          <p:nvPr/>
        </p:nvSpPr>
        <p:spPr bwMode="auto">
          <a:xfrm>
            <a:off x="0" y="5832475"/>
            <a:ext cx="57245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IBM 704 (1955)</a:t>
            </a:r>
          </a:p>
        </p:txBody>
      </p:sp>
      <p:sp>
        <p:nvSpPr>
          <p:cNvPr id="351241" name="Rectangle 9"/>
          <p:cNvSpPr>
            <a:spLocks noChangeArrowheads="1"/>
          </p:cNvSpPr>
          <p:nvPr/>
        </p:nvSpPr>
        <p:spPr bwMode="auto">
          <a:xfrm>
            <a:off x="6084888" y="4479925"/>
            <a:ext cx="2700337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 dirty="0">
                <a:latin typeface="Arial" charset="0"/>
              </a:rPr>
              <a:t>Primera máquina comercial con hardware de punto flotante (5kFLOPS).</a:t>
            </a:r>
            <a:endParaRPr lang="de-DE" altLang="es-CO" sz="1600" b="1" dirty="0">
              <a:latin typeface="Arial" charset="0"/>
            </a:endParaRPr>
          </a:p>
        </p:txBody>
      </p:sp>
      <p:pic>
        <p:nvPicPr>
          <p:cNvPr id="351247" name="Picture 15" descr="56ib7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8" y="1238250"/>
            <a:ext cx="577056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4548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64" name="Rectangle 8"/>
          <p:cNvSpPr>
            <a:spLocks noChangeArrowheads="1"/>
          </p:cNvSpPr>
          <p:nvPr/>
        </p:nvSpPr>
        <p:spPr bwMode="auto">
          <a:xfrm>
            <a:off x="4643438" y="5832475"/>
            <a:ext cx="42846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FORTRAN (1957)</a:t>
            </a:r>
          </a:p>
        </p:txBody>
      </p:sp>
      <p:sp>
        <p:nvSpPr>
          <p:cNvPr id="352265" name="Rectangle 9"/>
          <p:cNvSpPr>
            <a:spLocks noChangeArrowheads="1"/>
          </p:cNvSpPr>
          <p:nvPr/>
        </p:nvSpPr>
        <p:spPr bwMode="auto">
          <a:xfrm>
            <a:off x="1366838" y="4886325"/>
            <a:ext cx="270033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 dirty="0">
                <a:latin typeface="Arial" charset="0"/>
              </a:rPr>
              <a:t>Primer compilador </a:t>
            </a:r>
            <a:r>
              <a:rPr lang="de-DE" altLang="es-CO" sz="1600" b="1" u="none" dirty="0" smtClean="0">
                <a:latin typeface="Arial" charset="0"/>
              </a:rPr>
              <a:t>FORTRAN </a:t>
            </a:r>
            <a:r>
              <a:rPr lang="de-DE" altLang="es-CO" sz="1600" b="1" u="none" dirty="0">
                <a:latin typeface="Arial" charset="0"/>
              </a:rPr>
              <a:t>para IBM 704</a:t>
            </a:r>
          </a:p>
          <a:p>
            <a:r>
              <a:rPr lang="de-DE" altLang="es-CO" sz="1600" b="1" u="none" dirty="0">
                <a:latin typeface="Arial" charset="0"/>
              </a:rPr>
              <a:t>(Formula Translator)</a:t>
            </a:r>
            <a:endParaRPr lang="de-DE" altLang="es-CO" sz="1600" b="1" dirty="0">
              <a:latin typeface="Arial" charset="0"/>
            </a:endParaRPr>
          </a:p>
        </p:txBody>
      </p:sp>
      <p:pic>
        <p:nvPicPr>
          <p:cNvPr id="352268" name="Picture 12" descr="ftn_co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181189"/>
            <a:ext cx="3502100" cy="4546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4428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288" name="Picture 8" descr="1401 photo"/>
          <p:cNvPicPr>
            <a:picLocks noChangeAspect="1" noChangeArrowheads="1"/>
          </p:cNvPicPr>
          <p:nvPr/>
        </p:nvPicPr>
        <p:blipFill>
          <a:blip r:embed="rId3">
            <a:lum bright="-12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216124"/>
            <a:ext cx="4495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3289" name="Rectangle 9"/>
          <p:cNvSpPr>
            <a:spLocks noChangeArrowheads="1"/>
          </p:cNvSpPr>
          <p:nvPr/>
        </p:nvSpPr>
        <p:spPr bwMode="auto">
          <a:xfrm>
            <a:off x="396875" y="5589588"/>
            <a:ext cx="43910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IBM 1401(1959)</a:t>
            </a:r>
          </a:p>
        </p:txBody>
      </p:sp>
      <p:sp>
        <p:nvSpPr>
          <p:cNvPr id="353290" name="Rectangle 10"/>
          <p:cNvSpPr>
            <a:spLocks noChangeArrowheads="1"/>
          </p:cNvSpPr>
          <p:nvPr/>
        </p:nvSpPr>
        <p:spPr bwMode="auto">
          <a:xfrm>
            <a:off x="4932363" y="3181350"/>
            <a:ext cx="3024187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 dirty="0">
                <a:latin typeface="Arial" charset="0"/>
              </a:rPr>
              <a:t>4KB de memoria expandible a 16KB.</a:t>
            </a:r>
          </a:p>
          <a:p>
            <a:r>
              <a:rPr lang="de-DE" altLang="es-CO" sz="1600" b="1" u="none" dirty="0">
                <a:latin typeface="Arial" charset="0"/>
              </a:rPr>
              <a:t>Buena para leer tarjetas, copiar cintas e imprimir resultados, pero mala para cáclulos numéricos.</a:t>
            </a:r>
          </a:p>
          <a:p>
            <a:r>
              <a:rPr lang="de-DE" altLang="es-CO" sz="1600" b="1" u="none" dirty="0">
                <a:latin typeface="Arial" charset="0"/>
              </a:rPr>
              <a:t>Se utilizaba con fines comerciales (bancos, etc.)</a:t>
            </a:r>
            <a:r>
              <a:rPr lang="de-DE" altLang="es-CO" sz="1600" b="1" dirty="0">
                <a:latin typeface="Arial" charset="0"/>
              </a:rPr>
              <a:t> </a:t>
            </a: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3634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833" name="Picture 9" descr="1401 ph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5" y="1442462"/>
            <a:ext cx="4104109" cy="390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3834" name="Rectangle 10"/>
          <p:cNvSpPr>
            <a:spLocks noChangeArrowheads="1"/>
          </p:cNvSpPr>
          <p:nvPr/>
        </p:nvSpPr>
        <p:spPr bwMode="auto">
          <a:xfrm>
            <a:off x="1331913" y="5661025"/>
            <a:ext cx="72009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IBM 1401: Centro de Cómputo</a:t>
            </a:r>
          </a:p>
        </p:txBody>
      </p:sp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0257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9" name="Rectangle 9"/>
          <p:cNvSpPr>
            <a:spLocks noChangeArrowheads="1"/>
          </p:cNvSpPr>
          <p:nvPr/>
        </p:nvSpPr>
        <p:spPr bwMode="auto">
          <a:xfrm>
            <a:off x="1331913" y="5661025"/>
            <a:ext cx="72009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IBM 7094</a:t>
            </a:r>
          </a:p>
        </p:txBody>
      </p:sp>
      <p:pic>
        <p:nvPicPr>
          <p:cNvPr id="358411" name="Picture 11" descr="7094 syst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84313"/>
            <a:ext cx="5113337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12" name="Rectangle 12"/>
          <p:cNvSpPr>
            <a:spLocks noChangeArrowheads="1"/>
          </p:cNvSpPr>
          <p:nvPr/>
        </p:nvSpPr>
        <p:spPr bwMode="auto">
          <a:xfrm>
            <a:off x="5364163" y="4581525"/>
            <a:ext cx="302418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 dirty="0">
                <a:latin typeface="Arial" charset="0"/>
              </a:rPr>
              <a:t>Buena para hacer cómputos, se utilizaba con fines científicos.</a:t>
            </a:r>
            <a:r>
              <a:rPr lang="de-DE" altLang="es-CO" sz="1600" b="1" dirty="0">
                <a:latin typeface="Arial" charset="0"/>
              </a:rPr>
              <a:t> </a:t>
            </a: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7552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32" name="Rectangle 8"/>
          <p:cNvSpPr>
            <a:spLocks noChangeArrowheads="1"/>
          </p:cNvSpPr>
          <p:nvPr/>
        </p:nvSpPr>
        <p:spPr bwMode="auto">
          <a:xfrm>
            <a:off x="1439863" y="4292600"/>
            <a:ext cx="6732587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2000" u="none">
                <a:solidFill>
                  <a:schemeClr val="folHlink"/>
                </a:solidFill>
                <a:latin typeface="Arial" charset="0"/>
              </a:rPr>
              <a:t>IBM 1401 – IBM 7094: </a:t>
            </a:r>
          </a:p>
          <a:p>
            <a:pPr>
              <a:buFontTx/>
              <a:buAutoNum type="alphaLcParenR"/>
            </a:pPr>
            <a:r>
              <a:rPr lang="es-CL" altLang="es-CO" sz="2000" u="none">
                <a:solidFill>
                  <a:schemeClr val="folHlink"/>
                </a:solidFill>
                <a:latin typeface="Arial" charset="0"/>
              </a:rPr>
              <a:t>los programadores llevan tarjetas</a:t>
            </a:r>
          </a:p>
          <a:p>
            <a:pPr>
              <a:buFontTx/>
              <a:buAutoNum type="alphaLcParenR"/>
            </a:pPr>
            <a:r>
              <a:rPr lang="es-CL" altLang="es-CO" sz="2000" u="none">
                <a:solidFill>
                  <a:schemeClr val="folHlink"/>
                </a:solidFill>
                <a:latin typeface="Arial" charset="0"/>
              </a:rPr>
              <a:t>La 1401 lee un lote de tarjetas y los graba en la cinta</a:t>
            </a:r>
          </a:p>
          <a:p>
            <a:pPr>
              <a:buFontTx/>
              <a:buAutoNum type="alphaLcParenR"/>
            </a:pPr>
            <a:r>
              <a:rPr lang="es-CL" altLang="es-CO" sz="2000" u="none">
                <a:solidFill>
                  <a:schemeClr val="folHlink"/>
                </a:solidFill>
                <a:latin typeface="Arial" charset="0"/>
              </a:rPr>
              <a:t>Un operador lleva la cinta a la 7094</a:t>
            </a:r>
          </a:p>
          <a:p>
            <a:pPr>
              <a:buFontTx/>
              <a:buAutoNum type="alphaLcParenR"/>
            </a:pPr>
            <a:r>
              <a:rPr lang="es-CL" altLang="es-CO" sz="2000" u="none">
                <a:solidFill>
                  <a:schemeClr val="folHlink"/>
                </a:solidFill>
                <a:latin typeface="Arial" charset="0"/>
              </a:rPr>
              <a:t>La 7094 realiza los cómputos</a:t>
            </a:r>
          </a:p>
          <a:p>
            <a:pPr>
              <a:buFontTx/>
              <a:buAutoNum type="alphaLcParenR"/>
            </a:pPr>
            <a:r>
              <a:rPr lang="es-CL" altLang="es-CO" sz="2000" u="none">
                <a:solidFill>
                  <a:schemeClr val="folHlink"/>
                </a:solidFill>
                <a:latin typeface="Arial" charset="0"/>
              </a:rPr>
              <a:t>Un operador lleva la cinta a una 1401</a:t>
            </a:r>
          </a:p>
          <a:p>
            <a:pPr>
              <a:buFontTx/>
              <a:buAutoNum type="alphaLcParenR"/>
            </a:pPr>
            <a:r>
              <a:rPr lang="es-CL" altLang="es-CO" sz="2000" u="none">
                <a:solidFill>
                  <a:schemeClr val="folHlink"/>
                </a:solidFill>
                <a:latin typeface="Arial" charset="0"/>
              </a:rPr>
              <a:t>La 1401 imprime las salidas</a:t>
            </a:r>
          </a:p>
          <a:p>
            <a:endParaRPr lang="es-CL" altLang="es-CO" sz="2000" u="none">
              <a:solidFill>
                <a:schemeClr val="folHlink"/>
              </a:solidFill>
              <a:latin typeface="Arial" charset="0"/>
            </a:endParaRPr>
          </a:p>
        </p:txBody>
      </p:sp>
      <p:pic>
        <p:nvPicPr>
          <p:cNvPr id="35943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1196975"/>
            <a:ext cx="8905875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5220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6" name="Rectangle 8"/>
          <p:cNvSpPr>
            <a:spLocks noChangeArrowheads="1"/>
          </p:cNvSpPr>
          <p:nvPr/>
        </p:nvSpPr>
        <p:spPr bwMode="auto">
          <a:xfrm>
            <a:off x="2771775" y="5832475"/>
            <a:ext cx="60483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Trabajo en FORTRAN</a:t>
            </a:r>
          </a:p>
        </p:txBody>
      </p:sp>
      <p:pic>
        <p:nvPicPr>
          <p:cNvPr id="3604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6" t="39720" r="13995" b="33592"/>
          <a:stretch>
            <a:fillRect/>
          </a:stretch>
        </p:blipFill>
        <p:spPr bwMode="auto">
          <a:xfrm>
            <a:off x="684213" y="1052513"/>
            <a:ext cx="7632700" cy="462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  <p:sp>
        <p:nvSpPr>
          <p:cNvPr id="360457" name="Rectangle 9"/>
          <p:cNvSpPr>
            <a:spLocks noChangeArrowheads="1"/>
          </p:cNvSpPr>
          <p:nvPr/>
        </p:nvSpPr>
        <p:spPr bwMode="auto">
          <a:xfrm>
            <a:off x="647700" y="1364258"/>
            <a:ext cx="49323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 dirty="0">
                <a:latin typeface="Arial" charset="0"/>
              </a:rPr>
              <a:t>Fortran Monitor System </a:t>
            </a:r>
            <a:endParaRPr lang="de-DE" altLang="es-CO" sz="1600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58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11" name="Rectangle 11"/>
          <p:cNvSpPr>
            <a:spLocks noChangeArrowheads="1"/>
          </p:cNvSpPr>
          <p:nvPr/>
        </p:nvSpPr>
        <p:spPr bwMode="auto">
          <a:xfrm>
            <a:off x="971550" y="5759450"/>
            <a:ext cx="68405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ERMA, General Electric (1959)</a:t>
            </a:r>
          </a:p>
        </p:txBody>
      </p:sp>
      <p:pic>
        <p:nvPicPr>
          <p:cNvPr id="332815" name="Picture 15" descr="erma_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288899"/>
            <a:ext cx="5688930" cy="447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8108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9" name="Rectangle 7"/>
          <p:cNvSpPr>
            <a:spLocks noChangeArrowheads="1"/>
          </p:cNvSpPr>
          <p:nvPr/>
        </p:nvSpPr>
        <p:spPr bwMode="auto">
          <a:xfrm>
            <a:off x="971550" y="5026025"/>
            <a:ext cx="6840538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Primer video-juego. Estudiantes de MIT (1962)</a:t>
            </a:r>
          </a:p>
        </p:txBody>
      </p:sp>
      <p:graphicFrame>
        <p:nvGraphicFramePr>
          <p:cNvPr id="402442" name="Object 10"/>
          <p:cNvGraphicFramePr>
            <a:graphicFrameLocks noChangeAspect="1"/>
          </p:cNvGraphicFramePr>
          <p:nvPr/>
        </p:nvGraphicFramePr>
        <p:xfrm>
          <a:off x="2259013" y="1328738"/>
          <a:ext cx="4546600" cy="340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6" name="Fotografía de Photo Editor" r:id="rId4" imgW="3476190" imgH="2600000" progId="MSPhotoEd.3">
                  <p:embed/>
                </p:oleObj>
              </mc:Choice>
              <mc:Fallback>
                <p:oleObj name="Fotografía de Photo Editor" r:id="rId4" imgW="3476190" imgH="2600000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1328738"/>
                        <a:ext cx="4546600" cy="340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0225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63" name="Rectangle 7"/>
          <p:cNvSpPr>
            <a:spLocks noChangeArrowheads="1"/>
          </p:cNvSpPr>
          <p:nvPr/>
        </p:nvSpPr>
        <p:spPr bwMode="auto">
          <a:xfrm>
            <a:off x="971550" y="5026025"/>
            <a:ext cx="68405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Invención del mouse (1964). </a:t>
            </a:r>
          </a:p>
        </p:txBody>
      </p:sp>
      <p:graphicFrame>
        <p:nvGraphicFramePr>
          <p:cNvPr id="403466" name="Object 10"/>
          <p:cNvGraphicFramePr>
            <a:graphicFrameLocks noChangeAspect="1"/>
          </p:cNvGraphicFramePr>
          <p:nvPr/>
        </p:nvGraphicFramePr>
        <p:xfrm>
          <a:off x="3138488" y="2185988"/>
          <a:ext cx="2867025" cy="248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18" name="Fotografía de Photo Editor" r:id="rId4" imgW="2866667" imgH="2486372" progId="MSPhotoEd.3">
                  <p:embed/>
                </p:oleObj>
              </mc:Choice>
              <mc:Fallback>
                <p:oleObj name="Fotografía de Photo Editor" r:id="rId4" imgW="2866667" imgH="2486372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2185988"/>
                        <a:ext cx="2867025" cy="248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8657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80" name="Rectangle 8"/>
          <p:cNvSpPr>
            <a:spLocks noChangeArrowheads="1"/>
          </p:cNvSpPr>
          <p:nvPr/>
        </p:nvSpPr>
        <p:spPr bwMode="auto">
          <a:xfrm>
            <a:off x="323850" y="1341438"/>
            <a:ext cx="84248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La tercera generación (1965-1980)</a:t>
            </a:r>
          </a:p>
        </p:txBody>
      </p:sp>
      <p:sp>
        <p:nvSpPr>
          <p:cNvPr id="361481" name="Text Box 9"/>
          <p:cNvSpPr txBox="1">
            <a:spLocks noChangeArrowheads="1"/>
          </p:cNvSpPr>
          <p:nvPr/>
        </p:nvSpPr>
        <p:spPr bwMode="auto">
          <a:xfrm>
            <a:off x="663575" y="2582863"/>
            <a:ext cx="82296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Se introducen los </a:t>
            </a:r>
            <a:r>
              <a:rPr lang="es-CL" altLang="es-CO" b="1" u="none" dirty="0">
                <a:latin typeface="Arial" charset="0"/>
              </a:rPr>
              <a:t>circuitos integrados</a:t>
            </a:r>
            <a:r>
              <a:rPr lang="es-CL" altLang="es-CO" u="none" dirty="0">
                <a:latin typeface="Arial" charset="0"/>
              </a:rPr>
              <a:t>, lo cual es una gran ventaja en el precio y desempeño del computador.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Se introduce el sistema IBM 360 altamente compatible.</a:t>
            </a:r>
            <a:endParaRPr lang="es-CL" altLang="es-CO" u="none" dirty="0">
              <a:latin typeface="Arial" charset="0"/>
              <a:sym typeface="Symbol" pitchFamily="18" charset="2"/>
            </a:endParaRP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Se introduce la </a:t>
            </a:r>
            <a:r>
              <a:rPr lang="es-CL" altLang="es-CO" b="1" u="none" dirty="0">
                <a:latin typeface="Arial" charset="0"/>
                <a:sym typeface="Symbol" pitchFamily="18" charset="2"/>
              </a:rPr>
              <a:t>multiprogramación</a:t>
            </a:r>
            <a:r>
              <a:rPr lang="es-CL" altLang="es-CO" u="none" dirty="0">
                <a:latin typeface="Arial" charset="0"/>
                <a:sym typeface="Symbol" pitchFamily="18" charset="2"/>
              </a:rPr>
              <a:t> 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Se introducen los discos duros.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Se introduce el tiempo compartido entre usuarios.</a:t>
            </a:r>
          </a:p>
          <a:p>
            <a:pPr>
              <a:buFontTx/>
              <a:buChar char="•"/>
            </a:pPr>
            <a:endParaRPr lang="en-US" altLang="es-CO" u="none" dirty="0">
              <a:latin typeface="Arial" charset="0"/>
            </a:endParaRPr>
          </a:p>
        </p:txBody>
      </p:sp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563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9" name="Rectangle 9"/>
          <p:cNvSpPr>
            <a:spLocks noChangeArrowheads="1"/>
          </p:cNvSpPr>
          <p:nvPr/>
        </p:nvSpPr>
        <p:spPr bwMode="auto">
          <a:xfrm>
            <a:off x="2627313" y="5734050"/>
            <a:ext cx="41021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IBM 360 (1964)</a:t>
            </a:r>
          </a:p>
        </p:txBody>
      </p:sp>
      <p:pic>
        <p:nvPicPr>
          <p:cNvPr id="337933" name="Picture 13" descr="ibm3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125538"/>
            <a:ext cx="6553200" cy="436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34" name="Rectangle 14"/>
          <p:cNvSpPr>
            <a:spLocks noChangeArrowheads="1"/>
          </p:cNvSpPr>
          <p:nvPr/>
        </p:nvSpPr>
        <p:spPr bwMode="auto">
          <a:xfrm>
            <a:off x="250825" y="4652963"/>
            <a:ext cx="237648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 dirty="0">
                <a:latin typeface="Arial" charset="0"/>
              </a:rPr>
              <a:t>Software compatible con IBM 7094, 1401 entre otros.</a:t>
            </a:r>
            <a:endParaRPr lang="de-DE" altLang="es-CO" sz="1600" b="1" dirty="0">
              <a:latin typeface="Arial" charset="0"/>
            </a:endParaRP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4721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64" name="Rectangle 8"/>
          <p:cNvSpPr>
            <a:spLocks noChangeArrowheads="1"/>
          </p:cNvSpPr>
          <p:nvPr/>
        </p:nvSpPr>
        <p:spPr bwMode="auto">
          <a:xfrm>
            <a:off x="2189163" y="5734050"/>
            <a:ext cx="48164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Circuitos integrados</a:t>
            </a:r>
          </a:p>
        </p:txBody>
      </p:sp>
      <p:pic>
        <p:nvPicPr>
          <p:cNvPr id="377868" name="Picture 12" descr="PDRM1342"/>
          <p:cNvPicPr>
            <a:picLocks noChangeAspect="1" noChangeArrowheads="1"/>
          </p:cNvPicPr>
          <p:nvPr/>
        </p:nvPicPr>
        <p:blipFill>
          <a:blip r:embed="rId3">
            <a:lum bright="12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25" y="1135285"/>
            <a:ext cx="565785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0194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52" name="Rectangle 8"/>
          <p:cNvSpPr>
            <a:spLocks noChangeArrowheads="1"/>
          </p:cNvSpPr>
          <p:nvPr/>
        </p:nvSpPr>
        <p:spPr bwMode="auto">
          <a:xfrm>
            <a:off x="3133725" y="5734050"/>
            <a:ext cx="29511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IBM 360</a:t>
            </a:r>
          </a:p>
        </p:txBody>
      </p:sp>
      <p:pic>
        <p:nvPicPr>
          <p:cNvPr id="338955" name="Picture 11" descr="360 ph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209812"/>
            <a:ext cx="4896520" cy="443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5735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44" name="Rectangle 8"/>
          <p:cNvSpPr>
            <a:spLocks noChangeArrowheads="1"/>
          </p:cNvSpPr>
          <p:nvPr/>
        </p:nvSpPr>
        <p:spPr bwMode="auto">
          <a:xfrm>
            <a:off x="971550" y="5759450"/>
            <a:ext cx="68405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GE 625 (1965)</a:t>
            </a:r>
          </a:p>
        </p:txBody>
      </p:sp>
      <p:pic>
        <p:nvPicPr>
          <p:cNvPr id="372747" name="Picture 11" descr="ge6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557338"/>
            <a:ext cx="47625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2304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6" name="Rectangle 8"/>
          <p:cNvSpPr>
            <a:spLocks noChangeArrowheads="1"/>
          </p:cNvSpPr>
          <p:nvPr/>
        </p:nvSpPr>
        <p:spPr bwMode="auto">
          <a:xfrm>
            <a:off x="342900" y="5588000"/>
            <a:ext cx="47545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DEC PDP-1 (1961)</a:t>
            </a:r>
          </a:p>
        </p:txBody>
      </p:sp>
      <p:sp>
        <p:nvSpPr>
          <p:cNvPr id="375820" name="Rectangle 12"/>
          <p:cNvSpPr>
            <a:spLocks noChangeArrowheads="1"/>
          </p:cNvSpPr>
          <p:nvPr/>
        </p:nvSpPr>
        <p:spPr bwMode="auto">
          <a:xfrm>
            <a:off x="6337300" y="3960813"/>
            <a:ext cx="2376488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de-DE" altLang="es-CO" sz="1600" b="1" u="none" dirty="0">
                <a:latin typeface="Arial" charset="0"/>
              </a:rPr>
              <a:t>4K de palabras de 18 bits.</a:t>
            </a:r>
          </a:p>
          <a:p>
            <a:endParaRPr lang="de-DE" altLang="es-CO" sz="1600" b="1" u="none" dirty="0">
              <a:latin typeface="Arial" charset="0"/>
            </a:endParaRPr>
          </a:p>
          <a:p>
            <a:r>
              <a:rPr lang="de-DE" altLang="es-CO" sz="1600" b="1" u="none" dirty="0">
                <a:latin typeface="Arial" charset="0"/>
              </a:rPr>
              <a:t>US$ 120.000 &lt; 5% del precio de la IBM 7094</a:t>
            </a:r>
            <a:endParaRPr lang="de-DE" altLang="es-CO" sz="1600" b="1" dirty="0">
              <a:latin typeface="Arial" charset="0"/>
            </a:endParaRPr>
          </a:p>
        </p:txBody>
      </p:sp>
      <p:pic>
        <p:nvPicPr>
          <p:cNvPr id="375822" name="Picture 14" descr="PDRM04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289055"/>
            <a:ext cx="5304358" cy="397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3154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7" name="Rectangle 7"/>
          <p:cNvSpPr>
            <a:spLocks noChangeArrowheads="1"/>
          </p:cNvSpPr>
          <p:nvPr/>
        </p:nvSpPr>
        <p:spPr bwMode="auto">
          <a:xfrm>
            <a:off x="1466850" y="5588000"/>
            <a:ext cx="59356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Fundación de Intel (1968)</a:t>
            </a:r>
          </a:p>
        </p:txBody>
      </p:sp>
      <p:graphicFrame>
        <p:nvGraphicFramePr>
          <p:cNvPr id="404491" name="Object 11"/>
          <p:cNvGraphicFramePr>
            <a:graphicFrameLocks noChangeAspect="1"/>
          </p:cNvGraphicFramePr>
          <p:nvPr/>
        </p:nvGraphicFramePr>
        <p:xfrm>
          <a:off x="3614738" y="2719388"/>
          <a:ext cx="1971675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2" name="Fotografía de Photo Editor" r:id="rId4" imgW="1971950" imgH="2448267" progId="MSPhotoEd.3">
                  <p:embed/>
                </p:oleObj>
              </mc:Choice>
              <mc:Fallback>
                <p:oleObj name="Fotografía de Photo Editor" r:id="rId4" imgW="1971950" imgH="2448267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738" y="2719388"/>
                        <a:ext cx="1971675" cy="244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2247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980728"/>
            <a:ext cx="4600575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924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5" name="Rectangle 7"/>
          <p:cNvSpPr>
            <a:spLocks noChangeArrowheads="1"/>
          </p:cNvSpPr>
          <p:nvPr/>
        </p:nvSpPr>
        <p:spPr bwMode="auto">
          <a:xfrm>
            <a:off x="0" y="4606925"/>
            <a:ext cx="9021763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Laboratorio Bell desarrolla el lenguaje C (1972)</a:t>
            </a:r>
          </a:p>
        </p:txBody>
      </p:sp>
      <p:sp>
        <p:nvSpPr>
          <p:cNvPr id="406538" name="Text Box 10"/>
          <p:cNvSpPr txBox="1">
            <a:spLocks noChangeArrowheads="1"/>
          </p:cNvSpPr>
          <p:nvPr/>
        </p:nvSpPr>
        <p:spPr bwMode="auto">
          <a:xfrm>
            <a:off x="2355850" y="1609725"/>
            <a:ext cx="43204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CL" altLang="es-CO" b="1" u="none" dirty="0">
                <a:latin typeface="Courier New" pitchFamily="49" charset="0"/>
              </a:rPr>
              <a:t>#</a:t>
            </a:r>
            <a:r>
              <a:rPr lang="es-CL" altLang="es-CO" b="1" u="none" dirty="0" err="1">
                <a:latin typeface="Courier New" pitchFamily="49" charset="0"/>
              </a:rPr>
              <a:t>include</a:t>
            </a:r>
            <a:r>
              <a:rPr lang="es-CL" altLang="es-CO" b="1" u="none" dirty="0">
                <a:latin typeface="Courier New" pitchFamily="49" charset="0"/>
              </a:rPr>
              <a:t> </a:t>
            </a:r>
          </a:p>
          <a:p>
            <a:r>
              <a:rPr lang="es-CL" altLang="es-CO" b="1" u="none" dirty="0" err="1">
                <a:latin typeface="Courier New" pitchFamily="49" charset="0"/>
              </a:rPr>
              <a:t>main</a:t>
            </a:r>
            <a:r>
              <a:rPr lang="es-CL" altLang="es-CO" b="1" u="none" dirty="0">
                <a:latin typeface="Courier New" pitchFamily="49" charset="0"/>
              </a:rPr>
              <a:t>()</a:t>
            </a:r>
          </a:p>
          <a:p>
            <a:r>
              <a:rPr lang="es-CL" altLang="es-CO" b="1" u="none" dirty="0">
                <a:latin typeface="Courier New" pitchFamily="49" charset="0"/>
              </a:rPr>
              <a:t>{</a:t>
            </a:r>
          </a:p>
          <a:p>
            <a:r>
              <a:rPr lang="es-CL" altLang="es-CO" b="1" u="none" dirty="0">
                <a:latin typeface="Courier New" pitchFamily="49" charset="0"/>
              </a:rPr>
              <a:t>   </a:t>
            </a:r>
            <a:r>
              <a:rPr lang="es-CL" altLang="es-CO" b="1" u="none" dirty="0" err="1">
                <a:latin typeface="Courier New" pitchFamily="49" charset="0"/>
              </a:rPr>
              <a:t>for</a:t>
            </a:r>
            <a:r>
              <a:rPr lang="es-CL" altLang="es-CO" b="1" u="none" dirty="0">
                <a:latin typeface="Courier New" pitchFamily="49" charset="0"/>
              </a:rPr>
              <a:t>(;;)</a:t>
            </a:r>
          </a:p>
          <a:p>
            <a:r>
              <a:rPr lang="es-CL" altLang="es-CO" b="1" u="none" dirty="0">
                <a:latin typeface="Courier New" pitchFamily="49" charset="0"/>
              </a:rPr>
              <a:t>   </a:t>
            </a:r>
            <a:r>
              <a:rPr lang="es-CL" altLang="es-CO" b="1" u="none" dirty="0" err="1">
                <a:latin typeface="Courier New" pitchFamily="49" charset="0"/>
              </a:rPr>
              <a:t>printf</a:t>
            </a:r>
            <a:r>
              <a:rPr lang="es-CL" altLang="es-CO" b="1" u="none" dirty="0">
                <a:latin typeface="Courier New" pitchFamily="49" charset="0"/>
              </a:rPr>
              <a:t>("</a:t>
            </a:r>
            <a:r>
              <a:rPr lang="es-CL" altLang="es-CO" b="1" u="none" dirty="0" err="1">
                <a:latin typeface="Courier New" pitchFamily="49" charset="0"/>
              </a:rPr>
              <a:t>Hello</a:t>
            </a:r>
            <a:r>
              <a:rPr lang="es-CL" altLang="es-CO" b="1" u="none" dirty="0">
                <a:latin typeface="Courier New" pitchFamily="49" charset="0"/>
              </a:rPr>
              <a:t> </a:t>
            </a:r>
            <a:r>
              <a:rPr lang="es-CL" altLang="es-CO" b="1" u="none" dirty="0" err="1">
                <a:latin typeface="Courier New" pitchFamily="49" charset="0"/>
              </a:rPr>
              <a:t>world</a:t>
            </a:r>
            <a:r>
              <a:rPr lang="es-CL" altLang="es-CO" b="1" u="none" dirty="0">
                <a:latin typeface="Courier New" pitchFamily="49" charset="0"/>
              </a:rPr>
              <a:t>..."\n);</a:t>
            </a:r>
          </a:p>
          <a:p>
            <a:endParaRPr lang="es-CL" altLang="es-CO" b="1" u="none" dirty="0">
              <a:latin typeface="Courier New" pitchFamily="49" charset="0"/>
            </a:endParaRPr>
          </a:p>
          <a:p>
            <a:r>
              <a:rPr lang="es-CL" altLang="es-CO" b="1" u="none" dirty="0">
                <a:latin typeface="Courier New" pitchFamily="49" charset="0"/>
              </a:rPr>
              <a:t>}</a:t>
            </a:r>
          </a:p>
          <a:p>
            <a:endParaRPr lang="en-US" altLang="es-CO" b="1" u="none" dirty="0">
              <a:latin typeface="Courier New" pitchFamily="49" charset="0"/>
            </a:endParaRPr>
          </a:p>
        </p:txBody>
      </p:sp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3509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92" name="Rectangle 8"/>
          <p:cNvSpPr>
            <a:spLocks noChangeArrowheads="1"/>
          </p:cNvSpPr>
          <p:nvPr/>
        </p:nvSpPr>
        <p:spPr bwMode="auto">
          <a:xfrm>
            <a:off x="971550" y="5759450"/>
            <a:ext cx="68405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MULTICS (1976)</a:t>
            </a:r>
          </a:p>
        </p:txBody>
      </p:sp>
      <p:pic>
        <p:nvPicPr>
          <p:cNvPr id="374793" name="Picture 9" descr="h6180-doors-open-bi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59062"/>
            <a:ext cx="6936631" cy="45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7622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80" name="Rectangle 8"/>
          <p:cNvSpPr>
            <a:spLocks noChangeArrowheads="1"/>
          </p:cNvSpPr>
          <p:nvPr/>
        </p:nvSpPr>
        <p:spPr bwMode="auto">
          <a:xfrm>
            <a:off x="971550" y="5759450"/>
            <a:ext cx="68405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PDP-11/70 (1974)</a:t>
            </a:r>
          </a:p>
        </p:txBody>
      </p:sp>
      <p:pic>
        <p:nvPicPr>
          <p:cNvPr id="387083" name="Picture 11" descr="vs-dec-pdp-11-7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575" y="1196752"/>
            <a:ext cx="1757688" cy="4380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2384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42" name="Text Box 10"/>
          <p:cNvSpPr txBox="1">
            <a:spLocks noChangeArrowheads="1"/>
          </p:cNvSpPr>
          <p:nvPr/>
        </p:nvSpPr>
        <p:spPr bwMode="auto">
          <a:xfrm>
            <a:off x="450850" y="2154238"/>
            <a:ext cx="828516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s-CL" altLang="es-CO" u="none" dirty="0">
                <a:latin typeface="Arial" charset="0"/>
              </a:rPr>
              <a:t>De MULTICS nace UNICS (</a:t>
            </a:r>
            <a:r>
              <a:rPr lang="es-CL" altLang="es-CO" u="none" dirty="0" err="1">
                <a:latin typeface="Arial" charset="0"/>
              </a:rPr>
              <a:t>UNiplexed</a:t>
            </a:r>
            <a:r>
              <a:rPr lang="es-CL" altLang="es-CO" u="none" dirty="0">
                <a:latin typeface="Arial" charset="0"/>
              </a:rPr>
              <a:t> </a:t>
            </a:r>
            <a:r>
              <a:rPr lang="es-CL" altLang="es-CO" u="none" dirty="0" err="1">
                <a:latin typeface="Arial" charset="0"/>
              </a:rPr>
              <a:t>Information</a:t>
            </a:r>
            <a:r>
              <a:rPr lang="es-CL" altLang="es-CO" u="none" dirty="0">
                <a:latin typeface="Arial" charset="0"/>
              </a:rPr>
              <a:t> and Computing </a:t>
            </a:r>
            <a:r>
              <a:rPr lang="es-CL" altLang="es-CO" u="none" dirty="0" err="1">
                <a:latin typeface="Arial" charset="0"/>
              </a:rPr>
              <a:t>Service</a:t>
            </a:r>
            <a:r>
              <a:rPr lang="es-CL" altLang="es-CO" u="none" dirty="0">
                <a:latin typeface="Arial" charset="0"/>
              </a:rPr>
              <a:t>) luego se cambió a UNIX.</a:t>
            </a:r>
          </a:p>
          <a:p>
            <a:endParaRPr lang="es-CL" altLang="es-CO" u="none" dirty="0">
              <a:latin typeface="Arial" charset="0"/>
            </a:endParaRPr>
          </a:p>
          <a:p>
            <a:r>
              <a:rPr lang="es-CL" altLang="es-CO" u="none" dirty="0">
                <a:latin typeface="Arial" charset="0"/>
              </a:rPr>
              <a:t>Era un sistema abierto lo que generó un caos.</a:t>
            </a:r>
          </a:p>
          <a:p>
            <a:endParaRPr lang="es-CL" altLang="es-CO" u="none" dirty="0">
              <a:latin typeface="Arial" charset="0"/>
            </a:endParaRPr>
          </a:p>
          <a:p>
            <a:r>
              <a:rPr lang="es-CL" altLang="es-CO" u="none" dirty="0">
                <a:latin typeface="Arial" charset="0"/>
              </a:rPr>
              <a:t>IEEE generó un estándar llamado POSIX.</a:t>
            </a:r>
          </a:p>
          <a:p>
            <a:endParaRPr lang="en-US" altLang="es-CO" u="none" dirty="0">
              <a:latin typeface="Arial" charset="0"/>
            </a:endParaRPr>
          </a:p>
        </p:txBody>
      </p:sp>
      <p:sp>
        <p:nvSpPr>
          <p:cNvPr id="10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178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11" name="Rectangle 7"/>
          <p:cNvSpPr>
            <a:spLocks noChangeArrowheads="1"/>
          </p:cNvSpPr>
          <p:nvPr/>
        </p:nvSpPr>
        <p:spPr bwMode="auto">
          <a:xfrm>
            <a:off x="361950" y="4606925"/>
            <a:ext cx="8402638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Primer microprocesador en un chip Intel 4004 (1971)</a:t>
            </a:r>
          </a:p>
        </p:txBody>
      </p:sp>
      <p:graphicFrame>
        <p:nvGraphicFramePr>
          <p:cNvPr id="405514" name="Object 10"/>
          <p:cNvGraphicFramePr>
            <a:graphicFrameLocks noChangeAspect="1"/>
          </p:cNvGraphicFramePr>
          <p:nvPr/>
        </p:nvGraphicFramePr>
        <p:xfrm>
          <a:off x="3170238" y="1881188"/>
          <a:ext cx="2768600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2" name="Fotografía de Photo Editor" r:id="rId4" imgW="1819529" imgH="1514686" progId="MSPhotoEd.3">
                  <p:embed/>
                </p:oleObj>
              </mc:Choice>
              <mc:Fallback>
                <p:oleObj name="Fotografía de Photo Editor" r:id="rId4" imgW="1819529" imgH="1514686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238" y="1881188"/>
                        <a:ext cx="2768600" cy="230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03547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8" name="Rectangle 8"/>
          <p:cNvSpPr>
            <a:spLocks noChangeArrowheads="1"/>
          </p:cNvSpPr>
          <p:nvPr/>
        </p:nvSpPr>
        <p:spPr bwMode="auto">
          <a:xfrm>
            <a:off x="2238375" y="5734050"/>
            <a:ext cx="47323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Intel 4004 (1971)</a:t>
            </a:r>
          </a:p>
        </p:txBody>
      </p:sp>
      <p:pic>
        <p:nvPicPr>
          <p:cNvPr id="378891" name="Picture 11" descr="computer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0" y="1054100"/>
            <a:ext cx="60071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8173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9" name="Rectangle 7"/>
          <p:cNvSpPr>
            <a:spLocks noChangeArrowheads="1"/>
          </p:cNvSpPr>
          <p:nvPr/>
        </p:nvSpPr>
        <p:spPr bwMode="auto">
          <a:xfrm>
            <a:off x="2628900" y="5734050"/>
            <a:ext cx="54403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IMSAI 8080 (1975)</a:t>
            </a:r>
          </a:p>
        </p:txBody>
      </p:sp>
      <p:sp>
        <p:nvSpPr>
          <p:cNvPr id="515081" name="Text Box 9"/>
          <p:cNvSpPr txBox="1">
            <a:spLocks noChangeArrowheads="1"/>
          </p:cNvSpPr>
          <p:nvPr/>
        </p:nvSpPr>
        <p:spPr bwMode="auto">
          <a:xfrm>
            <a:off x="6040438" y="2173288"/>
            <a:ext cx="218842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s-CL" altLang="es-CO" u="none" dirty="0">
              <a:latin typeface="Arial" charset="0"/>
            </a:endParaRP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4K RAM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I/O botones y leds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diskettes 8”</a:t>
            </a:r>
          </a:p>
          <a:p>
            <a:pPr>
              <a:buFontTx/>
              <a:buChar char="•"/>
            </a:pPr>
            <a:endParaRPr lang="en-US" altLang="es-CO" u="none" dirty="0">
              <a:latin typeface="Arial" charset="0"/>
            </a:endParaRPr>
          </a:p>
        </p:txBody>
      </p:sp>
      <p:pic>
        <p:nvPicPr>
          <p:cNvPr id="515082" name="Picture 10" descr="2_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1590675"/>
            <a:ext cx="5314950" cy="350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3369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12" name="Rectangle 8"/>
          <p:cNvSpPr>
            <a:spLocks noChangeArrowheads="1"/>
          </p:cNvSpPr>
          <p:nvPr/>
        </p:nvSpPr>
        <p:spPr bwMode="auto">
          <a:xfrm>
            <a:off x="2238375" y="5734050"/>
            <a:ext cx="47323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Appel I (1976)</a:t>
            </a:r>
          </a:p>
        </p:txBody>
      </p:sp>
      <p:pic>
        <p:nvPicPr>
          <p:cNvPr id="379915" name="Picture 11" descr="860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713" y="1119188"/>
            <a:ext cx="6981825" cy="461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79917" name="Object 13"/>
          <p:cNvGraphicFramePr>
            <a:graphicFrameLocks noChangeAspect="1"/>
          </p:cNvGraphicFramePr>
          <p:nvPr/>
        </p:nvGraphicFramePr>
        <p:xfrm>
          <a:off x="452438" y="747713"/>
          <a:ext cx="2809875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8" name="Fotografía de Photo Editor" r:id="rId5" imgW="2809524" imgH="1781424" progId="MSPhotoEd.3">
                  <p:embed/>
                </p:oleObj>
              </mc:Choice>
              <mc:Fallback>
                <p:oleObj name="Fotografía de Photo Editor" r:id="rId5" imgW="2809524" imgH="1781424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8" y="747713"/>
                        <a:ext cx="2809875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18" name="Rectangle 14"/>
          <p:cNvSpPr>
            <a:spLocks noChangeArrowheads="1"/>
          </p:cNvSpPr>
          <p:nvPr/>
        </p:nvSpPr>
        <p:spPr bwMode="auto">
          <a:xfrm>
            <a:off x="219075" y="2524125"/>
            <a:ext cx="32559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1600" b="1" u="none" dirty="0">
                <a:solidFill>
                  <a:srgbClr val="92D050"/>
                </a:solidFill>
                <a:latin typeface="Arial" charset="0"/>
              </a:rPr>
              <a:t>Steve Jobs &amp; Steve </a:t>
            </a:r>
            <a:r>
              <a:rPr lang="es-CL" altLang="es-CO" sz="1600" b="1" u="none" dirty="0" err="1">
                <a:solidFill>
                  <a:srgbClr val="92D050"/>
                </a:solidFill>
                <a:latin typeface="Arial" charset="0"/>
              </a:rPr>
              <a:t>Wosniak</a:t>
            </a:r>
            <a:endParaRPr lang="es-CL" altLang="es-CO" sz="1600" b="1" u="none" dirty="0">
              <a:solidFill>
                <a:srgbClr val="92D050"/>
              </a:solidFill>
              <a:latin typeface="Arial" charset="0"/>
            </a:endParaRPr>
          </a:p>
        </p:txBody>
      </p:sp>
      <p:sp>
        <p:nvSpPr>
          <p:cNvPr id="13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3186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6" name="Rectangle 8"/>
          <p:cNvSpPr>
            <a:spLocks noChangeArrowheads="1"/>
          </p:cNvSpPr>
          <p:nvPr/>
        </p:nvSpPr>
        <p:spPr bwMode="auto">
          <a:xfrm>
            <a:off x="2238375" y="5734050"/>
            <a:ext cx="47323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ALTAIR 8800 (1975)</a:t>
            </a:r>
          </a:p>
        </p:txBody>
      </p:sp>
      <p:pic>
        <p:nvPicPr>
          <p:cNvPr id="380939" name="Picture 11" descr="PDR13225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178313"/>
            <a:ext cx="7194376" cy="454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8764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9" name="Rectangle 7"/>
          <p:cNvSpPr>
            <a:spLocks noChangeArrowheads="1"/>
          </p:cNvSpPr>
          <p:nvPr/>
        </p:nvSpPr>
        <p:spPr bwMode="auto">
          <a:xfrm>
            <a:off x="2238375" y="5734050"/>
            <a:ext cx="47323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ALTAIR 8800 (1975)</a:t>
            </a:r>
          </a:p>
        </p:txBody>
      </p:sp>
      <p:pic>
        <p:nvPicPr>
          <p:cNvPr id="525323" name="Picture 11" descr="2_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243013"/>
            <a:ext cx="5467350" cy="360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5324" name="Text Box 12"/>
          <p:cNvSpPr txBox="1">
            <a:spLocks noChangeArrowheads="1"/>
          </p:cNvSpPr>
          <p:nvPr/>
        </p:nvSpPr>
        <p:spPr bwMode="auto">
          <a:xfrm>
            <a:off x="5926138" y="1677988"/>
            <a:ext cx="21884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s-CL" altLang="es-CO" u="none" dirty="0">
              <a:latin typeface="Arial" charset="0"/>
            </a:endParaRP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2MHz 8088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256 bytes RAM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I/O botones y leds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diskettes 8”</a:t>
            </a:r>
          </a:p>
          <a:p>
            <a:pPr>
              <a:buFontTx/>
              <a:buChar char="•"/>
            </a:pPr>
            <a:endParaRPr lang="en-US" altLang="es-CO" u="none" dirty="0">
              <a:latin typeface="Arial" charset="0"/>
            </a:endParaRP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4128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71" name="Rectangle 7"/>
          <p:cNvSpPr>
            <a:spLocks noChangeArrowheads="1"/>
          </p:cNvSpPr>
          <p:nvPr/>
        </p:nvSpPr>
        <p:spPr bwMode="auto">
          <a:xfrm>
            <a:off x="457200" y="5562600"/>
            <a:ext cx="74406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Mark 8 (1974) &amp; IBM 5100 (1975)</a:t>
            </a:r>
          </a:p>
        </p:txBody>
      </p:sp>
      <p:sp>
        <p:nvSpPr>
          <p:cNvPr id="523273" name="Text Box 9"/>
          <p:cNvSpPr txBox="1">
            <a:spLocks noChangeArrowheads="1"/>
          </p:cNvSpPr>
          <p:nvPr/>
        </p:nvSpPr>
        <p:spPr bwMode="auto">
          <a:xfrm>
            <a:off x="6269038" y="1677988"/>
            <a:ext cx="226536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CL" altLang="es-CO" u="none" dirty="0">
                <a:latin typeface="Arial" charset="0"/>
              </a:rPr>
              <a:t>Mark 8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Intel 8088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256 bytes RAM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sin ROM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Se vendieron 1500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US$ 12.000</a:t>
            </a:r>
          </a:p>
          <a:p>
            <a:endParaRPr lang="es-CL" altLang="es-CO" u="none" dirty="0">
              <a:latin typeface="Arial" charset="0"/>
            </a:endParaRPr>
          </a:p>
          <a:p>
            <a:endParaRPr lang="es-CL" altLang="es-CO" u="none" dirty="0">
              <a:latin typeface="Arial" charset="0"/>
            </a:endParaRPr>
          </a:p>
          <a:p>
            <a:pPr>
              <a:buFontTx/>
              <a:buChar char="•"/>
            </a:pPr>
            <a:endParaRPr lang="en-US" altLang="es-CO" u="none" dirty="0">
              <a:latin typeface="Arial" charset="0"/>
            </a:endParaRPr>
          </a:p>
        </p:txBody>
      </p:sp>
      <p:pic>
        <p:nvPicPr>
          <p:cNvPr id="523274" name="Picture 10" descr="1_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228725"/>
            <a:ext cx="5840413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5415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60" name="Rectangle 8"/>
          <p:cNvSpPr>
            <a:spLocks noChangeArrowheads="1"/>
          </p:cNvSpPr>
          <p:nvPr/>
        </p:nvSpPr>
        <p:spPr bwMode="auto">
          <a:xfrm>
            <a:off x="1362075" y="5734050"/>
            <a:ext cx="60563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Apple II (1978) US$ 1930</a:t>
            </a:r>
          </a:p>
        </p:txBody>
      </p:sp>
      <p:pic>
        <p:nvPicPr>
          <p:cNvPr id="381963" name="Picture 11" descr="PDR13229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074923"/>
            <a:ext cx="7266384" cy="4668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9897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76237"/>
            <a:ext cx="6543675" cy="610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307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104" name="Rectangle 8"/>
          <p:cNvSpPr>
            <a:spLocks noChangeArrowheads="1"/>
          </p:cNvSpPr>
          <p:nvPr/>
        </p:nvSpPr>
        <p:spPr bwMode="auto">
          <a:xfrm>
            <a:off x="1362075" y="5734050"/>
            <a:ext cx="60563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Microsoft (1978)</a:t>
            </a:r>
          </a:p>
        </p:txBody>
      </p:sp>
      <p:pic>
        <p:nvPicPr>
          <p:cNvPr id="388109" name="Picture 13" descr="microsof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1018952"/>
            <a:ext cx="6029325" cy="478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9863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6" name="Rectangle 8"/>
          <p:cNvSpPr>
            <a:spLocks noChangeArrowheads="1"/>
          </p:cNvSpPr>
          <p:nvPr/>
        </p:nvSpPr>
        <p:spPr bwMode="auto">
          <a:xfrm>
            <a:off x="323850" y="1341438"/>
            <a:ext cx="84248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La cuarta generación (desde 1980)</a:t>
            </a:r>
          </a:p>
        </p:txBody>
      </p:sp>
      <p:sp>
        <p:nvSpPr>
          <p:cNvPr id="370697" name="Text Box 9"/>
          <p:cNvSpPr txBox="1">
            <a:spLocks noChangeArrowheads="1"/>
          </p:cNvSpPr>
          <p:nvPr/>
        </p:nvSpPr>
        <p:spPr bwMode="auto">
          <a:xfrm>
            <a:off x="663575" y="2392363"/>
            <a:ext cx="8229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Usan LSI (</a:t>
            </a:r>
            <a:r>
              <a:rPr lang="es-CL" altLang="es-CO" u="none" dirty="0" err="1">
                <a:latin typeface="Arial" charset="0"/>
              </a:rPr>
              <a:t>large</a:t>
            </a:r>
            <a:r>
              <a:rPr lang="es-CL" altLang="es-CO" u="none" dirty="0">
                <a:latin typeface="Arial" charset="0"/>
              </a:rPr>
              <a:t> </a:t>
            </a:r>
            <a:r>
              <a:rPr lang="es-CL" altLang="es-CO" u="none" dirty="0" err="1">
                <a:latin typeface="Arial" charset="0"/>
              </a:rPr>
              <a:t>scale</a:t>
            </a:r>
            <a:r>
              <a:rPr lang="es-CL" altLang="es-CO" u="none" dirty="0">
                <a:latin typeface="Arial" charset="0"/>
              </a:rPr>
              <a:t> </a:t>
            </a:r>
            <a:r>
              <a:rPr lang="es-CL" altLang="es-CO" u="none" dirty="0" err="1">
                <a:latin typeface="Arial" charset="0"/>
              </a:rPr>
              <a:t>integration</a:t>
            </a:r>
            <a:r>
              <a:rPr lang="es-CL" altLang="es-CO" u="none" dirty="0">
                <a:latin typeface="Arial" charset="0"/>
              </a:rPr>
              <a:t>).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Intel 8080 (8 bits) -&gt; IBM PC (1980) con DOS</a:t>
            </a:r>
            <a:r>
              <a:rPr lang="es-CL" altLang="es-CO" u="none" dirty="0">
                <a:latin typeface="Arial" charset="0"/>
                <a:sym typeface="Symbol" pitchFamily="18" charset="2"/>
              </a:rPr>
              <a:t>.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Intel 80286 (1983), 80386 (1985) y 80486 (1989).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GUI (</a:t>
            </a:r>
            <a:r>
              <a:rPr lang="es-CL" altLang="es-CO" u="none" dirty="0" err="1">
                <a:latin typeface="Arial" charset="0"/>
                <a:sym typeface="Symbol" pitchFamily="18" charset="2"/>
              </a:rPr>
              <a:t>graphical</a:t>
            </a:r>
            <a:r>
              <a:rPr lang="es-CL" altLang="es-CO" u="none" dirty="0">
                <a:latin typeface="Arial" charset="0"/>
                <a:sym typeface="Symbol" pitchFamily="18" charset="2"/>
              </a:rPr>
              <a:t> </a:t>
            </a:r>
            <a:r>
              <a:rPr lang="es-CL" altLang="es-CO" u="none" dirty="0" err="1">
                <a:latin typeface="Arial" charset="0"/>
                <a:sym typeface="Symbol" pitchFamily="18" charset="2"/>
              </a:rPr>
              <a:t>User</a:t>
            </a:r>
            <a:r>
              <a:rPr lang="es-CL" altLang="es-CO" u="none" dirty="0">
                <a:latin typeface="Arial" charset="0"/>
                <a:sym typeface="Symbol" pitchFamily="18" charset="2"/>
              </a:rPr>
              <a:t> Interface) -&gt; Macintosh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Microsoft adopta GUI y desarrolla Windows (sobre DOS)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Microsoft saca Windows 95 como sistema operativo, luego Windows 98 (basado en 16 bits), Windows NT (32 bits) con ideas de VAX VMS.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Windows NT 5.0 se transformó en Windows 2000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Windows 98 se transformó en Windows Me.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  <a:sym typeface="Symbol" pitchFamily="18" charset="2"/>
              </a:rPr>
              <a:t> Windows XP</a:t>
            </a:r>
            <a:endParaRPr lang="en-US" altLang="es-CO" u="none" dirty="0">
              <a:latin typeface="Arial" charset="0"/>
            </a:endParaRPr>
          </a:p>
        </p:txBody>
      </p:sp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3601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4" name="Rectangle 4"/>
          <p:cNvSpPr>
            <a:spLocks noChangeArrowheads="1"/>
          </p:cNvSpPr>
          <p:nvPr/>
        </p:nvSpPr>
        <p:spPr bwMode="auto">
          <a:xfrm>
            <a:off x="8580438" y="6567488"/>
            <a:ext cx="458787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de-DE" altLang="es-CO" sz="500" u="none">
                <a:solidFill>
                  <a:schemeClr val="hlink"/>
                </a:solidFill>
                <a:latin typeface="Arial" charset="0"/>
              </a:rPr>
              <a:t>Präsentation</a:t>
            </a:r>
            <a:endParaRPr lang="de-DE" altLang="es-CO" sz="4400" u="none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389125" name="Line 5"/>
          <p:cNvSpPr>
            <a:spLocks noChangeShapeType="1"/>
          </p:cNvSpPr>
          <p:nvPr/>
        </p:nvSpPr>
        <p:spPr bwMode="auto">
          <a:xfrm>
            <a:off x="-6350" y="6553200"/>
            <a:ext cx="9144000" cy="0"/>
          </a:xfrm>
          <a:prstGeom prst="line">
            <a:avLst/>
          </a:prstGeom>
          <a:noFill/>
          <a:ln w="9525">
            <a:solidFill>
              <a:srgbClr val="99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389128" name="Rectangle 8"/>
          <p:cNvSpPr>
            <a:spLocks noChangeArrowheads="1"/>
          </p:cNvSpPr>
          <p:nvPr/>
        </p:nvSpPr>
        <p:spPr bwMode="auto">
          <a:xfrm>
            <a:off x="323850" y="1341438"/>
            <a:ext cx="84248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La cuarta generación (desde 1980)</a:t>
            </a:r>
          </a:p>
        </p:txBody>
      </p:sp>
      <p:sp>
        <p:nvSpPr>
          <p:cNvPr id="389129" name="Text Box 9"/>
          <p:cNvSpPr txBox="1">
            <a:spLocks noChangeArrowheads="1"/>
          </p:cNvSpPr>
          <p:nvPr/>
        </p:nvSpPr>
        <p:spPr bwMode="auto">
          <a:xfrm>
            <a:off x="663575" y="2392363"/>
            <a:ext cx="82296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UNIX se mantiene más fuerte en computadores potentes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Se basa en chips RISC de alto desempeño.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Pentium </a:t>
            </a:r>
            <a:r>
              <a:rPr lang="es-CL" altLang="es-CO" u="none" dirty="0" err="1">
                <a:latin typeface="Arial" charset="0"/>
              </a:rPr>
              <a:t>Liunx</a:t>
            </a:r>
            <a:r>
              <a:rPr lang="es-CL" altLang="es-CO" u="none" dirty="0">
                <a:latin typeface="Arial" charset="0"/>
              </a:rPr>
              <a:t> es una alternativa a Windows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Unix saca X Windows basado en GUI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Se introducen sistemas operativos en red (varios computadores conectados) y sistemas operativos distribuidos (múltiples procesadores).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continuará…</a:t>
            </a:r>
            <a:endParaRPr lang="en-US" altLang="es-CO" u="none" dirty="0">
              <a:latin typeface="Arial" charset="0"/>
            </a:endParaRPr>
          </a:p>
        </p:txBody>
      </p:sp>
      <p:sp>
        <p:nvSpPr>
          <p:cNvPr id="389130" name="Text Box 10"/>
          <p:cNvSpPr txBox="1">
            <a:spLocks noChangeArrowheads="1"/>
          </p:cNvSpPr>
          <p:nvPr/>
        </p:nvSpPr>
        <p:spPr bwMode="auto">
          <a:xfrm>
            <a:off x="0" y="6521450"/>
            <a:ext cx="92233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de-DE" altLang="es-CO" sz="1400" u="none">
                <a:solidFill>
                  <a:srgbClr val="99CCFF"/>
                </a:solidFill>
                <a:latin typeface="Arial" charset="0"/>
              </a:rPr>
              <a:t>D.Mery                                                                               </a:t>
            </a:r>
            <a:fld id="{FF5C7695-8C5A-4690-A2D0-4807D2953D45}" type="slidenum">
              <a:rPr altLang="es-CO" sz="1400" u="none" noProof="1">
                <a:solidFill>
                  <a:srgbClr val="99CCFF"/>
                </a:solidFill>
                <a:latin typeface="Arial" charset="0"/>
              </a:rPr>
              <a:pPr/>
              <a:t>57</a:t>
            </a:fld>
            <a:r>
              <a:rPr lang="es-CO" altLang="es-CO" sz="1400" u="none" noProof="1">
                <a:solidFill>
                  <a:srgbClr val="99CCFF"/>
                </a:solidFill>
                <a:latin typeface="Arial" charset="0"/>
              </a:rPr>
              <a:t> </a:t>
            </a:r>
            <a:r>
              <a:rPr lang="es-ES" altLang="es-CO" sz="1400" u="none">
                <a:solidFill>
                  <a:srgbClr val="99CCFF"/>
                </a:solidFill>
                <a:latin typeface="Arial" charset="0"/>
              </a:rPr>
              <a:t>                                     Arquitectura de Computadores</a:t>
            </a:r>
            <a:endParaRPr lang="es-ES" altLang="es-CO" sz="1400" u="none" noProof="1">
              <a:solidFill>
                <a:srgbClr val="99CCFF"/>
              </a:solidFill>
              <a:latin typeface="Arial" charset="0"/>
            </a:endParaRPr>
          </a:p>
        </p:txBody>
      </p:sp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2710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84" name="Rectangle 8"/>
          <p:cNvSpPr>
            <a:spLocks noChangeArrowheads="1"/>
          </p:cNvSpPr>
          <p:nvPr/>
        </p:nvSpPr>
        <p:spPr bwMode="auto">
          <a:xfrm>
            <a:off x="2238375" y="5734050"/>
            <a:ext cx="47323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IBM PC (1981)</a:t>
            </a:r>
          </a:p>
        </p:txBody>
      </p:sp>
      <p:pic>
        <p:nvPicPr>
          <p:cNvPr id="382987" name="Picture 11" descr="PDR13230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5" y="1028700"/>
            <a:ext cx="7620000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2988" name="Picture 12" descr="PC XT pho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722313"/>
            <a:ext cx="2744788" cy="26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2989" name="Picture 13" descr="PC phot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438" y="654050"/>
            <a:ext cx="2403475" cy="328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0965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6" name="Rectangle 8"/>
          <p:cNvSpPr>
            <a:spLocks noChangeArrowheads="1"/>
          </p:cNvSpPr>
          <p:nvPr/>
        </p:nvSpPr>
        <p:spPr bwMode="auto">
          <a:xfrm>
            <a:off x="1790700" y="5124450"/>
            <a:ext cx="53895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Commodore 64 (1982)</a:t>
            </a:r>
          </a:p>
        </p:txBody>
      </p:sp>
      <p:pic>
        <p:nvPicPr>
          <p:cNvPr id="391181" name="Picture 13" descr="[Commodore 64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2266950"/>
            <a:ext cx="3184525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0704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5" name="Rectangle 7"/>
          <p:cNvSpPr>
            <a:spLocks noChangeArrowheads="1"/>
          </p:cNvSpPr>
          <p:nvPr/>
        </p:nvSpPr>
        <p:spPr bwMode="auto">
          <a:xfrm>
            <a:off x="457200" y="5562600"/>
            <a:ext cx="60690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Kaypro2 “portable” (1983)</a:t>
            </a:r>
          </a:p>
        </p:txBody>
      </p:sp>
      <p:sp>
        <p:nvSpPr>
          <p:cNvPr id="519177" name="Text Box 9"/>
          <p:cNvSpPr txBox="1">
            <a:spLocks noChangeArrowheads="1"/>
          </p:cNvSpPr>
          <p:nvPr/>
        </p:nvSpPr>
        <p:spPr bwMode="auto">
          <a:xfrm>
            <a:off x="6040438" y="2173288"/>
            <a:ext cx="12779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s-CL" altLang="es-CO" u="none">
              <a:latin typeface="Arial" charset="0"/>
            </a:endParaRPr>
          </a:p>
          <a:p>
            <a:pPr>
              <a:buFontTx/>
              <a:buChar char="•"/>
            </a:pPr>
            <a:r>
              <a:rPr lang="es-CL" altLang="es-CO" u="none">
                <a:latin typeface="Arial" charset="0"/>
              </a:rPr>
              <a:t> 11 kg</a:t>
            </a:r>
          </a:p>
          <a:p>
            <a:pPr>
              <a:buFontTx/>
              <a:buChar char="•"/>
            </a:pPr>
            <a:r>
              <a:rPr lang="es-CL" altLang="es-CO" u="none">
                <a:latin typeface="Arial" charset="0"/>
              </a:rPr>
              <a:t> CPU Z80</a:t>
            </a:r>
          </a:p>
          <a:p>
            <a:pPr>
              <a:buFontTx/>
              <a:buChar char="•"/>
            </a:pPr>
            <a:endParaRPr lang="en-US" altLang="es-CO" u="none">
              <a:latin typeface="Arial" charset="0"/>
            </a:endParaRPr>
          </a:p>
        </p:txBody>
      </p:sp>
      <p:pic>
        <p:nvPicPr>
          <p:cNvPr id="519178" name="Picture 10" descr="2_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04913"/>
            <a:ext cx="5514975" cy="360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700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7" name="Rectangle 7"/>
          <p:cNvSpPr>
            <a:spLocks noChangeArrowheads="1"/>
          </p:cNvSpPr>
          <p:nvPr/>
        </p:nvSpPr>
        <p:spPr bwMode="auto">
          <a:xfrm>
            <a:off x="457200" y="5562600"/>
            <a:ext cx="606901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Osborne “portable” (1981)</a:t>
            </a:r>
          </a:p>
        </p:txBody>
      </p:sp>
      <p:sp>
        <p:nvSpPr>
          <p:cNvPr id="527369" name="Text Box 9"/>
          <p:cNvSpPr txBox="1">
            <a:spLocks noChangeArrowheads="1"/>
          </p:cNvSpPr>
          <p:nvPr/>
        </p:nvSpPr>
        <p:spPr bwMode="auto">
          <a:xfrm>
            <a:off x="6040438" y="2173288"/>
            <a:ext cx="21884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s-CL" altLang="es-CO" u="none" dirty="0">
              <a:latin typeface="Arial" charset="0"/>
            </a:endParaRP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10.6  kg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CPU Z80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Monitor 5”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diskette 5.25” 91K</a:t>
            </a:r>
          </a:p>
          <a:p>
            <a:pPr>
              <a:buFontTx/>
              <a:buChar char="•"/>
            </a:pPr>
            <a:r>
              <a:rPr lang="es-CL" altLang="es-CO" u="none" dirty="0">
                <a:latin typeface="Arial" charset="0"/>
              </a:rPr>
              <a:t> 64K RAM</a:t>
            </a:r>
          </a:p>
          <a:p>
            <a:endParaRPr lang="es-CL" altLang="es-CO" u="none" dirty="0">
              <a:latin typeface="Arial" charset="0"/>
            </a:endParaRPr>
          </a:p>
          <a:p>
            <a:pPr>
              <a:buFontTx/>
              <a:buChar char="•"/>
            </a:pPr>
            <a:endParaRPr lang="en-US" altLang="es-CO" u="none" dirty="0">
              <a:latin typeface="Arial" charset="0"/>
            </a:endParaRPr>
          </a:p>
        </p:txBody>
      </p:sp>
      <p:pic>
        <p:nvPicPr>
          <p:cNvPr id="527372" name="Picture 12" descr="2_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1514475"/>
            <a:ext cx="48768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183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5" name="Rectangle 7"/>
          <p:cNvSpPr>
            <a:spLocks noChangeArrowheads="1"/>
          </p:cNvSpPr>
          <p:nvPr/>
        </p:nvSpPr>
        <p:spPr bwMode="auto">
          <a:xfrm>
            <a:off x="476250" y="5105400"/>
            <a:ext cx="53895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Gavilan Laptop (1983)</a:t>
            </a:r>
          </a:p>
        </p:txBody>
      </p:sp>
      <p:pic>
        <p:nvPicPr>
          <p:cNvPr id="508939" name="Picture 11" descr="2_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1336526"/>
            <a:ext cx="5635625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8940" name="Text Box 12"/>
          <p:cNvSpPr txBox="1">
            <a:spLocks noChangeArrowheads="1"/>
          </p:cNvSpPr>
          <p:nvPr/>
        </p:nvSpPr>
        <p:spPr bwMode="auto">
          <a:xfrm>
            <a:off x="6145213" y="1335088"/>
            <a:ext cx="223971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s-CL" altLang="es-CO" u="none">
                <a:latin typeface="Arial" charset="0"/>
              </a:rPr>
              <a:t> 64K RAM</a:t>
            </a:r>
          </a:p>
          <a:p>
            <a:pPr>
              <a:buFontTx/>
              <a:buChar char="•"/>
            </a:pPr>
            <a:r>
              <a:rPr lang="es-CL" altLang="es-CO" u="none">
                <a:latin typeface="Arial" charset="0"/>
              </a:rPr>
              <a:t> expandible a 128K</a:t>
            </a:r>
          </a:p>
          <a:p>
            <a:pPr>
              <a:buFontTx/>
              <a:buChar char="•"/>
            </a:pPr>
            <a:r>
              <a:rPr lang="es-CL" altLang="es-CO" u="none">
                <a:latin typeface="Arial" charset="0"/>
              </a:rPr>
              <a:t> DOS</a:t>
            </a:r>
          </a:p>
          <a:p>
            <a:pPr>
              <a:buFontTx/>
              <a:buChar char="•"/>
            </a:pPr>
            <a:r>
              <a:rPr lang="es-CL" altLang="es-CO" u="none">
                <a:latin typeface="Arial" charset="0"/>
              </a:rPr>
              <a:t> CPU 8088</a:t>
            </a:r>
          </a:p>
          <a:p>
            <a:pPr>
              <a:buFontTx/>
              <a:buChar char="•"/>
            </a:pPr>
            <a:r>
              <a:rPr lang="es-CL" altLang="es-CO" u="none">
                <a:latin typeface="Arial" charset="0"/>
              </a:rPr>
              <a:t> 4kg</a:t>
            </a:r>
          </a:p>
          <a:p>
            <a:pPr>
              <a:buFontTx/>
              <a:buChar char="•"/>
            </a:pPr>
            <a:r>
              <a:rPr lang="es-CL" altLang="es-CO" u="none">
                <a:latin typeface="Arial" charset="0"/>
              </a:rPr>
              <a:t> 6.3 kg con printer</a:t>
            </a:r>
          </a:p>
          <a:p>
            <a:pPr>
              <a:buFontTx/>
              <a:buChar char="•"/>
            </a:pPr>
            <a:r>
              <a:rPr lang="es-CL" altLang="es-CO" u="none">
                <a:latin typeface="Arial" charset="0"/>
              </a:rPr>
              <a:t> touchpad mouse</a:t>
            </a:r>
            <a:endParaRPr lang="en-US" altLang="es-CO" u="none">
              <a:latin typeface="Arial" charset="0"/>
            </a:endParaRP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0950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92" name="Rectangle 8"/>
          <p:cNvSpPr>
            <a:spLocks noChangeArrowheads="1"/>
          </p:cNvSpPr>
          <p:nvPr/>
        </p:nvSpPr>
        <p:spPr bwMode="auto">
          <a:xfrm>
            <a:off x="533400" y="5734050"/>
            <a:ext cx="77422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Disco Duro Seagate 40 MB (1978)</a:t>
            </a:r>
          </a:p>
        </p:txBody>
      </p:sp>
      <p:pic>
        <p:nvPicPr>
          <p:cNvPr id="400393" name="Picture 9" descr="PDR132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711" y="1551943"/>
            <a:ext cx="5541615" cy="415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2417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6" name="Rectangle 8"/>
          <p:cNvSpPr>
            <a:spLocks noChangeArrowheads="1"/>
          </p:cNvSpPr>
          <p:nvPr/>
        </p:nvSpPr>
        <p:spPr bwMode="auto">
          <a:xfrm>
            <a:off x="409575" y="5734050"/>
            <a:ext cx="80660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Disco Duro Memorex 10MB (1983)</a:t>
            </a:r>
          </a:p>
        </p:txBody>
      </p:sp>
      <p:pic>
        <p:nvPicPr>
          <p:cNvPr id="401417" name="Picture 9" descr="PDR13204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256" y="1084183"/>
            <a:ext cx="6446862" cy="468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3712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9" name="Rectangle 7"/>
          <p:cNvSpPr>
            <a:spLocks noChangeArrowheads="1"/>
          </p:cNvSpPr>
          <p:nvPr/>
        </p:nvSpPr>
        <p:spPr bwMode="auto">
          <a:xfrm>
            <a:off x="0" y="5006975"/>
            <a:ext cx="9021763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AT&amp;T y Laboratorio Bell desarrollan C++ (1983)</a:t>
            </a:r>
          </a:p>
        </p:txBody>
      </p:sp>
      <p:sp>
        <p:nvSpPr>
          <p:cNvPr id="407561" name="Text Box 9"/>
          <p:cNvSpPr txBox="1">
            <a:spLocks noChangeArrowheads="1"/>
          </p:cNvSpPr>
          <p:nvPr/>
        </p:nvSpPr>
        <p:spPr bwMode="auto">
          <a:xfrm>
            <a:off x="2346325" y="1236816"/>
            <a:ext cx="404469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CL" altLang="es-CO" b="1" u="none" dirty="0">
                <a:latin typeface="Courier New" pitchFamily="49" charset="0"/>
              </a:rPr>
              <a:t>#</a:t>
            </a:r>
            <a:r>
              <a:rPr lang="es-CL" altLang="es-CO" b="1" u="none" dirty="0" err="1">
                <a:latin typeface="Courier New" pitchFamily="49" charset="0"/>
              </a:rPr>
              <a:t>include</a:t>
            </a:r>
            <a:r>
              <a:rPr lang="es-CL" altLang="es-CO" b="1" u="none" dirty="0">
                <a:latin typeface="Courier New" pitchFamily="49" charset="0"/>
              </a:rPr>
              <a:t> </a:t>
            </a:r>
          </a:p>
          <a:p>
            <a:r>
              <a:rPr lang="es-CL" altLang="es-CO" b="1" u="none" dirty="0" err="1">
                <a:latin typeface="Courier New" pitchFamily="49" charset="0"/>
              </a:rPr>
              <a:t>main</a:t>
            </a:r>
            <a:r>
              <a:rPr lang="es-CL" altLang="es-CO" b="1" u="none" dirty="0">
                <a:latin typeface="Courier New" pitchFamily="49" charset="0"/>
              </a:rPr>
              <a:t>()</a:t>
            </a:r>
          </a:p>
          <a:p>
            <a:r>
              <a:rPr lang="es-CL" altLang="es-CO" b="1" u="none" dirty="0">
                <a:latin typeface="Courier New" pitchFamily="49" charset="0"/>
              </a:rPr>
              <a:t>{</a:t>
            </a:r>
          </a:p>
          <a:p>
            <a:r>
              <a:rPr lang="es-CL" altLang="es-CO" b="1" u="none" dirty="0">
                <a:latin typeface="Courier New" pitchFamily="49" charset="0"/>
              </a:rPr>
              <a:t>   </a:t>
            </a:r>
            <a:r>
              <a:rPr lang="es-CL" altLang="es-CO" b="1" u="none" dirty="0" err="1">
                <a:latin typeface="Courier New" pitchFamily="49" charset="0"/>
              </a:rPr>
              <a:t>char</a:t>
            </a:r>
            <a:r>
              <a:rPr lang="es-CL" altLang="es-CO" b="1" u="none" dirty="0">
                <a:latin typeface="Courier New" pitchFamily="49" charset="0"/>
              </a:rPr>
              <a:t> *s1, *s2;</a:t>
            </a:r>
          </a:p>
          <a:p>
            <a:r>
              <a:rPr lang="es-CL" altLang="es-CO" b="1" u="none" dirty="0">
                <a:latin typeface="Courier New" pitchFamily="49" charset="0"/>
              </a:rPr>
              <a:t>   par{</a:t>
            </a:r>
          </a:p>
          <a:p>
            <a:r>
              <a:rPr lang="es-CL" altLang="es-CO" b="1" u="none" dirty="0">
                <a:latin typeface="Courier New" pitchFamily="49" charset="0"/>
              </a:rPr>
              <a:t>      s1 = "</a:t>
            </a:r>
            <a:r>
              <a:rPr lang="es-CL" altLang="es-CO" b="1" u="none" dirty="0" err="1">
                <a:latin typeface="Courier New" pitchFamily="49" charset="0"/>
              </a:rPr>
              <a:t>Hello</a:t>
            </a:r>
            <a:r>
              <a:rPr lang="es-CL" altLang="es-CO" b="1" u="none" dirty="0">
                <a:latin typeface="Courier New" pitchFamily="49" charset="0"/>
              </a:rPr>
              <a:t>";</a:t>
            </a:r>
          </a:p>
          <a:p>
            <a:r>
              <a:rPr lang="es-CL" altLang="es-CO" b="1" u="none" dirty="0">
                <a:latin typeface="Courier New" pitchFamily="49" charset="0"/>
              </a:rPr>
              <a:t>      s2 = "</a:t>
            </a:r>
            <a:r>
              <a:rPr lang="es-CL" altLang="es-CO" b="1" u="none" dirty="0" err="1">
                <a:latin typeface="Courier New" pitchFamily="49" charset="0"/>
              </a:rPr>
              <a:t>world</a:t>
            </a:r>
            <a:r>
              <a:rPr lang="es-CL" altLang="es-CO" b="1" u="none" dirty="0">
                <a:latin typeface="Courier New" pitchFamily="49" charset="0"/>
              </a:rPr>
              <a:t>\n";</a:t>
            </a:r>
          </a:p>
          <a:p>
            <a:r>
              <a:rPr lang="es-CL" altLang="es-CO" b="1" u="none" dirty="0">
                <a:latin typeface="Courier New" pitchFamily="49" charset="0"/>
              </a:rPr>
              <a:t>   }</a:t>
            </a:r>
          </a:p>
          <a:p>
            <a:r>
              <a:rPr lang="es-CL" altLang="es-CO" b="1" u="none" dirty="0">
                <a:latin typeface="Courier New" pitchFamily="49" charset="0"/>
              </a:rPr>
              <a:t>   </a:t>
            </a:r>
            <a:r>
              <a:rPr lang="es-CL" altLang="es-CO" b="1" u="none" dirty="0" err="1">
                <a:latin typeface="Courier New" pitchFamily="49" charset="0"/>
              </a:rPr>
              <a:t>cout</a:t>
            </a:r>
            <a:r>
              <a:rPr lang="es-CL" altLang="es-CO" b="1" u="none" dirty="0">
                <a:latin typeface="Courier New" pitchFamily="49" charset="0"/>
              </a:rPr>
              <a:t> &lt;&lt; s1 &lt;&lt; s2 &lt;&lt; </a:t>
            </a:r>
            <a:r>
              <a:rPr lang="es-CL" altLang="es-CO" b="1" u="none" dirty="0" err="1">
                <a:latin typeface="Courier New" pitchFamily="49" charset="0"/>
              </a:rPr>
              <a:t>endl</a:t>
            </a:r>
            <a:r>
              <a:rPr lang="es-CL" altLang="es-CO" b="1" u="none" dirty="0">
                <a:latin typeface="Courier New" pitchFamily="49" charset="0"/>
              </a:rPr>
              <a:t>;</a:t>
            </a:r>
          </a:p>
          <a:p>
            <a:r>
              <a:rPr lang="es-CL" altLang="es-CO" b="1" u="none" dirty="0">
                <a:latin typeface="Courier New" pitchFamily="49" charset="0"/>
              </a:rPr>
              <a:t>   </a:t>
            </a:r>
            <a:r>
              <a:rPr lang="es-CL" altLang="es-CO" b="1" u="none" dirty="0" err="1">
                <a:latin typeface="Courier New" pitchFamily="49" charset="0"/>
              </a:rPr>
              <a:t>return</a:t>
            </a:r>
            <a:r>
              <a:rPr lang="es-CL" altLang="es-CO" b="1" u="none" dirty="0">
                <a:latin typeface="Courier New" pitchFamily="49" charset="0"/>
              </a:rPr>
              <a:t>(0);</a:t>
            </a:r>
          </a:p>
          <a:p>
            <a:r>
              <a:rPr lang="es-CL" altLang="es-CO" b="1" u="none" dirty="0">
                <a:latin typeface="Courier New" pitchFamily="49" charset="0"/>
              </a:rPr>
              <a:t>}</a:t>
            </a:r>
          </a:p>
          <a:p>
            <a:endParaRPr lang="en-US" altLang="es-CO" b="1" u="none" dirty="0">
              <a:latin typeface="Courier New" pitchFamily="49" charset="0"/>
            </a:endParaRPr>
          </a:p>
        </p:txBody>
      </p:sp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0608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52" name="Rectangle 8"/>
          <p:cNvSpPr>
            <a:spLocks noChangeArrowheads="1"/>
          </p:cNvSpPr>
          <p:nvPr/>
        </p:nvSpPr>
        <p:spPr bwMode="auto">
          <a:xfrm>
            <a:off x="2238375" y="5734050"/>
            <a:ext cx="47323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IBM PC/AT (1983)</a:t>
            </a:r>
          </a:p>
        </p:txBody>
      </p:sp>
      <p:pic>
        <p:nvPicPr>
          <p:cNvPr id="390157" name="Picture 13" descr="IBMPC-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2452688"/>
            <a:ext cx="294322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5687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83" name="Rectangle 7"/>
          <p:cNvSpPr>
            <a:spLocks noChangeArrowheads="1"/>
          </p:cNvSpPr>
          <p:nvPr/>
        </p:nvSpPr>
        <p:spPr bwMode="auto">
          <a:xfrm>
            <a:off x="952500" y="5734050"/>
            <a:ext cx="72850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Sony introduce el CD (1984)</a:t>
            </a:r>
          </a:p>
        </p:txBody>
      </p:sp>
      <p:pic>
        <p:nvPicPr>
          <p:cNvPr id="408587" name="Picture 11" descr="cd-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1662113"/>
            <a:ext cx="523875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0385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8" name="Rectangle 8"/>
          <p:cNvSpPr>
            <a:spLocks noChangeArrowheads="1"/>
          </p:cNvSpPr>
          <p:nvPr/>
        </p:nvSpPr>
        <p:spPr bwMode="auto">
          <a:xfrm>
            <a:off x="1790700" y="5124450"/>
            <a:ext cx="61229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Commodore Amiga (1985)</a:t>
            </a:r>
          </a:p>
        </p:txBody>
      </p:sp>
      <p:pic>
        <p:nvPicPr>
          <p:cNvPr id="394251" name="Picture 11" descr="[Amiga 500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825" y="2309813"/>
            <a:ext cx="3395663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880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24" name="Rectangle 8"/>
          <p:cNvSpPr>
            <a:spLocks noChangeArrowheads="1"/>
          </p:cNvSpPr>
          <p:nvPr/>
        </p:nvSpPr>
        <p:spPr bwMode="auto">
          <a:xfrm>
            <a:off x="2133600" y="5581650"/>
            <a:ext cx="47323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Macintosh (1984)</a:t>
            </a:r>
          </a:p>
        </p:txBody>
      </p:sp>
      <p:pic>
        <p:nvPicPr>
          <p:cNvPr id="393225" name="Picture 9" descr="[Apple Macintosh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1584325"/>
            <a:ext cx="3057525" cy="344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3227" name="Picture 11" descr="[HyperCard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2114550"/>
            <a:ext cx="3389313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7273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72" name="Rectangle 8"/>
          <p:cNvSpPr>
            <a:spLocks noChangeArrowheads="1"/>
          </p:cNvSpPr>
          <p:nvPr/>
        </p:nvSpPr>
        <p:spPr bwMode="auto">
          <a:xfrm>
            <a:off x="1085850" y="5581650"/>
            <a:ext cx="68468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X Windows para UNIX (1984)</a:t>
            </a:r>
          </a:p>
        </p:txBody>
      </p:sp>
      <p:pic>
        <p:nvPicPr>
          <p:cNvPr id="395275" name="Picture 11" descr="[The X Window System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3" y="1619250"/>
            <a:ext cx="4043362" cy="323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3535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200" name="Rectangle 8"/>
          <p:cNvSpPr>
            <a:spLocks noChangeArrowheads="1"/>
          </p:cNvSpPr>
          <p:nvPr/>
        </p:nvSpPr>
        <p:spPr bwMode="auto">
          <a:xfrm>
            <a:off x="2238375" y="5734050"/>
            <a:ext cx="47323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Sparcstation (1989)</a:t>
            </a:r>
          </a:p>
        </p:txBody>
      </p:sp>
      <p:pic>
        <p:nvPicPr>
          <p:cNvPr id="392203" name="Picture 11" descr="[SPARCstation 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2049463"/>
            <a:ext cx="3238500" cy="288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38214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9" name="Rectangle 7"/>
          <p:cNvSpPr>
            <a:spLocks noChangeArrowheads="1"/>
          </p:cNvSpPr>
          <p:nvPr/>
        </p:nvSpPr>
        <p:spPr bwMode="auto">
          <a:xfrm>
            <a:off x="611559" y="1285017"/>
            <a:ext cx="7968879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/>
            <a:r>
              <a:rPr lang="es-CL" altLang="es-CO" b="1" u="none" dirty="0">
                <a:solidFill>
                  <a:schemeClr val="folHlink"/>
                </a:solidFill>
                <a:latin typeface="Courier New" pitchFamily="49" charset="0"/>
              </a:rPr>
              <a:t>“Estoy construyendo un sistema operativo gratuito (no es más que un hobby, no será una cosa grande y profesional como GNU) para clónicos AT (con un 386 o 346).”</a:t>
            </a:r>
          </a:p>
          <a:p>
            <a:pPr algn="just"/>
            <a:endParaRPr lang="es-CL" altLang="es-CO" b="1" u="none" dirty="0">
              <a:solidFill>
                <a:schemeClr val="folHlink"/>
              </a:solidFill>
              <a:latin typeface="Courier New" pitchFamily="49" charset="0"/>
            </a:endParaRPr>
          </a:p>
          <a:p>
            <a:pPr algn="just"/>
            <a:r>
              <a:rPr lang="es-CL" altLang="es-CO" b="1" u="none" dirty="0" err="1">
                <a:solidFill>
                  <a:schemeClr val="folHlink"/>
                </a:solidFill>
                <a:latin typeface="Courier New" pitchFamily="49" charset="0"/>
              </a:rPr>
              <a:t>Linus</a:t>
            </a:r>
            <a:r>
              <a:rPr lang="es-CL" altLang="es-CO" b="1" u="none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s-CL" altLang="es-CO" b="1" u="none" dirty="0" err="1">
                <a:solidFill>
                  <a:schemeClr val="folHlink"/>
                </a:solidFill>
                <a:latin typeface="Courier New" pitchFamily="49" charset="0"/>
              </a:rPr>
              <a:t>Torvalds</a:t>
            </a:r>
            <a:r>
              <a:rPr lang="es-CL" altLang="es-CO" b="1" u="none" dirty="0">
                <a:solidFill>
                  <a:schemeClr val="folHlink"/>
                </a:solidFill>
                <a:latin typeface="Courier New" pitchFamily="49" charset="0"/>
              </a:rPr>
              <a:t>, Helsinki, Oct. 91</a:t>
            </a:r>
          </a:p>
        </p:txBody>
      </p:sp>
      <p:pic>
        <p:nvPicPr>
          <p:cNvPr id="494600" name="Picture 8" descr="dig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775" y="4838700"/>
            <a:ext cx="2095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4601" name="Text Box 9"/>
          <p:cNvSpPr txBox="1">
            <a:spLocks noChangeArrowheads="1"/>
          </p:cNvSpPr>
          <p:nvPr/>
        </p:nvSpPr>
        <p:spPr bwMode="auto">
          <a:xfrm>
            <a:off x="5727700" y="5973763"/>
            <a:ext cx="187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CL" altLang="es-CO" u="none">
                <a:solidFill>
                  <a:schemeClr val="folHlink"/>
                </a:solidFill>
                <a:latin typeface="Arial" charset="0"/>
              </a:rPr>
              <a:t>Nace LINUX</a:t>
            </a:r>
            <a:endParaRPr lang="en-US" altLang="es-CO" u="none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2467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6" name="Rectangle 8"/>
          <p:cNvSpPr>
            <a:spLocks noChangeArrowheads="1"/>
          </p:cNvSpPr>
          <p:nvPr/>
        </p:nvSpPr>
        <p:spPr bwMode="auto">
          <a:xfrm>
            <a:off x="2238375" y="5734050"/>
            <a:ext cx="47323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Intel Pentium (1993)</a:t>
            </a:r>
          </a:p>
        </p:txBody>
      </p:sp>
      <p:pic>
        <p:nvPicPr>
          <p:cNvPr id="396299" name="Picture 11" descr="[Pentium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963" y="2038350"/>
            <a:ext cx="2124075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3403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8" name="Rectangle 8"/>
          <p:cNvSpPr>
            <a:spLocks noChangeArrowheads="1"/>
          </p:cNvSpPr>
          <p:nvPr/>
        </p:nvSpPr>
        <p:spPr bwMode="auto">
          <a:xfrm>
            <a:off x="1790700" y="5734050"/>
            <a:ext cx="56467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Appel Newton (1993)</a:t>
            </a:r>
          </a:p>
        </p:txBody>
      </p:sp>
      <p:pic>
        <p:nvPicPr>
          <p:cNvPr id="399371" name="Picture 11" descr="[Newton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014538"/>
            <a:ext cx="2701925" cy="2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3440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20" name="Rectangle 8"/>
          <p:cNvSpPr>
            <a:spLocks noChangeArrowheads="1"/>
          </p:cNvSpPr>
          <p:nvPr/>
        </p:nvSpPr>
        <p:spPr bwMode="auto">
          <a:xfrm>
            <a:off x="2238375" y="5734050"/>
            <a:ext cx="47323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>
                <a:solidFill>
                  <a:schemeClr val="folHlink"/>
                </a:solidFill>
                <a:latin typeface="Arial" charset="0"/>
              </a:rPr>
              <a:t>Windows 95 (1995)</a:t>
            </a:r>
          </a:p>
        </p:txBody>
      </p:sp>
      <p:pic>
        <p:nvPicPr>
          <p:cNvPr id="397323" name="Picture 11" descr="[Windows '95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188" y="2125663"/>
            <a:ext cx="2514600" cy="304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8455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44" name="Rectangle 8"/>
          <p:cNvSpPr>
            <a:spLocks noChangeArrowheads="1"/>
          </p:cNvSpPr>
          <p:nvPr/>
        </p:nvSpPr>
        <p:spPr bwMode="auto">
          <a:xfrm>
            <a:off x="1771650" y="5734050"/>
            <a:ext cx="59610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 dirty="0" err="1">
                <a:solidFill>
                  <a:schemeClr val="folHlink"/>
                </a:solidFill>
                <a:latin typeface="Arial" charset="0"/>
              </a:rPr>
              <a:t>Power</a:t>
            </a:r>
            <a:r>
              <a:rPr lang="es-CL" altLang="es-CO" sz="3600" u="none" dirty="0">
                <a:solidFill>
                  <a:schemeClr val="folHlink"/>
                </a:solidFill>
                <a:latin typeface="Arial" charset="0"/>
              </a:rPr>
              <a:t> Macintosh (1994)</a:t>
            </a:r>
          </a:p>
        </p:txBody>
      </p:sp>
      <p:pic>
        <p:nvPicPr>
          <p:cNvPr id="398347" name="Picture 11" descr="[PowerMac 6100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650" y="2405063"/>
            <a:ext cx="3305175" cy="265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1537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864" name="Picture 16" descr="dig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3" y="3367088"/>
            <a:ext cx="4276725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4858" name="Picture 10" descr="dig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985838"/>
            <a:ext cx="3228975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4862" name="Picture 14" descr="dig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481263"/>
            <a:ext cx="2095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4860" name="Picture 12" descr="dig3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942975"/>
            <a:ext cx="347662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4866" name="Picture 18" descr="[Virtual Reality Devices]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4586288"/>
            <a:ext cx="244792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3517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  <p:pic>
        <p:nvPicPr>
          <p:cNvPr id="149506" name="Picture 2" descr="http://www.azcona.eu/wp-content/uploads/2011/11/imgAppsMultiplesSistemasOperativo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34" y="1196752"/>
            <a:ext cx="4886325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508" name="Picture 4" descr="http://www.yupcharge.com/wp-content/uploads/dispositivos-movile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159" y="1827705"/>
            <a:ext cx="4000500" cy="352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771650" y="5734050"/>
            <a:ext cx="59610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CL" altLang="es-CO" sz="3600" u="none" dirty="0" smtClean="0">
                <a:solidFill>
                  <a:schemeClr val="folHlink"/>
                </a:solidFill>
                <a:latin typeface="Arial" charset="0"/>
              </a:rPr>
              <a:t>Actualidad</a:t>
            </a:r>
            <a:endParaRPr lang="es-CL" altLang="es-CO" sz="3600" u="none" dirty="0">
              <a:solidFill>
                <a:schemeClr val="folHlin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54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6" name="Rectangle 8"/>
          <p:cNvSpPr>
            <a:spLocks noChangeArrowheads="1"/>
          </p:cNvSpPr>
          <p:nvPr/>
        </p:nvSpPr>
        <p:spPr bwMode="auto">
          <a:xfrm>
            <a:off x="1257300" y="3076575"/>
            <a:ext cx="6437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indent="449263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altLang="es-CO" sz="5400" b="1" u="none">
                <a:solidFill>
                  <a:schemeClr val="folHlink"/>
                </a:solidFill>
                <a:latin typeface="Courier New" pitchFamily="49" charset="0"/>
              </a:rPr>
              <a:t>Continuará...</a:t>
            </a:r>
          </a:p>
        </p:txBody>
      </p:sp>
      <p:sp>
        <p:nvSpPr>
          <p:cNvPr id="10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Historia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8319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1435</Words>
  <Application>Microsoft Office PowerPoint</Application>
  <PresentationFormat>Presentación en pantalla (4:3)</PresentationFormat>
  <Paragraphs>374</Paragraphs>
  <Slides>79</Slides>
  <Notes>74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79</vt:i4>
      </vt:variant>
    </vt:vector>
  </HeadingPairs>
  <TitlesOfParts>
    <vt:vector size="81" baseType="lpstr">
      <vt:lpstr>Tema de Office</vt:lpstr>
      <vt:lpstr>Fotografía de Microsoft Photo Editor 3.0</vt:lpstr>
      <vt:lpstr>Arquitectura de Computadores</vt:lpstr>
      <vt:lpstr>Contenido</vt:lpstr>
      <vt:lpstr>Historia y Evolución de los computadores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Presentación de PowerPoint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Presentación de PowerPoint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  <vt:lpstr>Historia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de Computadores</dc:title>
  <dc:creator>User</dc:creator>
  <cp:lastModifiedBy>User</cp:lastModifiedBy>
  <cp:revision>17</cp:revision>
  <dcterms:created xsi:type="dcterms:W3CDTF">2015-08-12T16:06:16Z</dcterms:created>
  <dcterms:modified xsi:type="dcterms:W3CDTF">2015-08-13T15:27:59Z</dcterms:modified>
</cp:coreProperties>
</file>